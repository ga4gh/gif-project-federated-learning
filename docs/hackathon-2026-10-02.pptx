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block (0:00-0:15). Quick intros go around the room and the call: name, org, which track you think you will join. Keep it moving; 5 minutes max for intros.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The tracks block is most of the session on purpose. Be explicit: we are not building the whole system today. The three outcomes are the bar for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3 minutes. Most people in the room know FL; the point is that GA4GH APIs are the plumbing, and the gap report is the deliverable back to GA4GH.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on one slide. Call out the repeat loop: each new Driver Project means another node, another partition, another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round: 1 coordinator submits a WES run or TES task with DRS URIs. 2 the job pulls global weights via DRS. 3 trains locally with DP-SGD. 4 writes updated weights to the site DRS and returns the URI. 5 coordinator fetches, runs FedAvg, next round. The amber tags are where we expect the APIs to fall short; today is a chance to confirm or rule them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(Dec 11) is the target that matters: real nodes, real rounds, a result. Everything in the amber box waits so it cannot block the first demo. The 12-month phase table is in the README under Longer-term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Keep evaluators to time; Venkat holds the clock. Question 2 (write-back) is the one that most affects the decision, so push for a concrete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Venkat facilitates. A note-taker writes each decision straight into decisions/NNNN-*.md during the discussion. Do not let D1 eat the block: if FLARE vs Flower is contested, start the slice with plain FedAvg and defer.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1:00-1:05. Ask people to pick a track now. Aim for at least 3 people per technical track. Driver Project reps go to Track D even if they are also developers; their survey is what we cannot get any other way. Check-in at about 1:45: each track posts a one-line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needs a lead; recruit before Friday if possible. The weights_in / data_in / weights_out interface is the contract with Tracks B and C, so agree it with them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write-back round trip is the most important thing any track proves today. If it only works with a workaround, that is a result: file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client thin and framework-agnostic so D1 can change without rewriting it. Coordinate with Track B around 1:45 on endpoint URLs and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survey questions are in HACKATHON.md. The inbound networking answer decides D6 (push vs. pull), so get a clear yes/no from every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right before tracks start, and again at report-out. Examples of likely gaps: DRS write-back, ML capabilities in service-info, machine-to-machine delegation, sites needing inbound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2:25-2:50. Order: D, A, C, B so the node/write-back demo lands last. Venkat captures next steps and owners directly into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2:50-3:00. Ask directly, by name, for champions of 1, 2 and 4. If nobody commits in the room, get a candidate and follow up within 48 hours. Each workstream has an epic issue; champions comment there to sign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time. Thank people. Confirm the sync slot before people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03A"/>
        </a:solidFill>
      </p:bgPr>
    </p:bg>
    <p:spTree>
      <p:nvGrpSpPr>
        <p:cNvPr id="1" name=""/>
        <p:cNvGrpSpPr/>
        <p:nvPr/>
      </p:nvGrpSpPr>
      <p:grpSpPr>
        <a:xfrm>
          <a:off x="0" y="0"/>
          <a:ext cx="0" cy="0"/>
          <a:chOff x="0" y="0"/>
          <a:chExt cx="0" cy="0"/>
        </a:xfrm>
      </p:grpSpPr>
      <p:sp>
        <p:nvSpPr>
          <p:cNvPr id="2" name="Text 0"/>
          <p:cNvSpPr txBox="1"/>
          <p:nvPr/>
        </p:nvSpPr>
        <p:spPr>
          <a:xfrm>
            <a:off x="731520" y="1463040"/>
            <a:ext cx="10058400" cy="365760"/>
          </a:xfrm>
          <a:prstGeom prst="rect">
            <a:avLst/>
          </a:prstGeom>
          <a:noFill/>
          <a:ln/>
        </p:spPr>
        <p:txBody>
          <a:bodyPr wrap="square" lIns="0" tIns="0" rIns="0" bIns="0" rtlCol="0" anchor="ctr"/>
          <a:lstStyle/>
          <a:p>
            <a:pPr indent="0" marL="0">
              <a:buNone/>
            </a:pPr>
            <a:r>
              <a:rPr lang="en-US" sz="1400" b="1" spc="200" kern="0" dirty="0">
                <a:solidFill>
                  <a:srgbClr val="7FC8C6"/>
                </a:solidFill>
                <a:latin typeface="Calibri" pitchFamily="34" charset="0"/>
                <a:ea typeface="Calibri" pitchFamily="34" charset="-122"/>
                <a:cs typeface="Calibri" pitchFamily="34" charset="-120"/>
              </a:rPr>
              <a:t>GIF FEDERATED LEARNING PROJECT · EXPERIMENT 1</a:t>
            </a:r>
            <a:endParaRPr lang="en-US" sz="1400" dirty="0"/>
          </a:p>
        </p:txBody>
      </p:sp>
      <p:sp>
        <p:nvSpPr>
          <p:cNvPr id="3" name="Text 1"/>
          <p:cNvSpPr txBox="1"/>
          <p:nvPr/>
        </p:nvSpPr>
        <p:spPr>
          <a:xfrm>
            <a:off x="731520" y="1920240"/>
            <a:ext cx="10515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Federated learning over GA4GH APIs</a:t>
            </a:r>
            <a:endParaRPr lang="en-US" sz="4800" dirty="0"/>
          </a:p>
        </p:txBody>
      </p:sp>
      <p:sp>
        <p:nvSpPr>
          <p:cNvPr id="4" name="Text 2"/>
          <p:cNvSpPr txBox="1"/>
          <p:nvPr/>
        </p:nvSpPr>
        <p:spPr>
          <a:xfrm>
            <a:off x="731520" y="2971800"/>
            <a:ext cx="10058400" cy="457200"/>
          </a:xfrm>
          <a:prstGeom prst="rect">
            <a:avLst/>
          </a:prstGeom>
          <a:noFill/>
          <a:ln/>
        </p:spPr>
        <p:txBody>
          <a:bodyPr wrap="square" lIns="0" tIns="0" rIns="0" bIns="0" rtlCol="0" anchor="ctr"/>
          <a:lstStyle/>
          <a:p>
            <a:pPr indent="0" marL="0">
              <a:buNone/>
            </a:pPr>
            <a:r>
              <a:rPr lang="en-US" sz="2200" dirty="0">
                <a:solidFill>
                  <a:srgbClr val="C3D3DA"/>
                </a:solidFill>
                <a:latin typeface="Calibri" pitchFamily="34" charset="0"/>
                <a:ea typeface="Calibri" pitchFamily="34" charset="-122"/>
                <a:cs typeface="Calibri" pitchFamily="34" charset="-120"/>
              </a:rPr>
              <a:t>Hackathon · Friday, October 2, 2026 · 3 hours</a:t>
            </a:r>
            <a:endParaRPr lang="en-US" sz="2200" dirty="0"/>
          </a:p>
        </p:txBody>
      </p:sp>
      <p:sp>
        <p:nvSpPr>
          <p:cNvPr id="5" name="Shape 3"/>
          <p:cNvSpPr/>
          <p:nvPr/>
        </p:nvSpPr>
        <p:spPr>
          <a:xfrm>
            <a:off x="731520" y="4023360"/>
            <a:ext cx="384048" cy="384048"/>
          </a:xfrm>
          <a:prstGeom prst="ellipse">
            <a:avLst/>
          </a:prstGeom>
          <a:solidFill>
            <a:srgbClr val="C9821F"/>
          </a:solidFill>
          <a:ln w="12700">
            <a:solidFill>
              <a:srgbClr val="C9821F"/>
            </a:solidFill>
            <a:prstDash val="solid"/>
          </a:ln>
        </p:spPr>
      </p:sp>
      <p:sp>
        <p:nvSpPr>
          <p:cNvPr id="6" name="Text 4"/>
          <p:cNvSpPr txBox="1"/>
          <p:nvPr/>
        </p:nvSpPr>
        <p:spPr>
          <a:xfrm>
            <a:off x="731520" y="4023360"/>
            <a:ext cx="384048" cy="384048"/>
          </a:xfrm>
          <a:prstGeom prst="rect">
            <a:avLst/>
          </a:prstGeom>
          <a:noFill/>
          <a:ln/>
        </p:spPr>
        <p:txBody>
          <a:bodyPr wrap="square" lIns="0" tIns="0" rIns="0" bIns="0" rtlCol="0" anchor="ctr"/>
          <a:lstStyle/>
          <a:p>
            <a:pPr algn="ctr" indent="0" marL="0">
              <a:buNone/>
            </a:pPr>
            <a:endParaRPr lang="en-US" sz="1600" dirty="0"/>
          </a:p>
        </p:txBody>
      </p:sp>
      <p:sp>
        <p:nvSpPr>
          <p:cNvPr id="7" name="Shape 5"/>
          <p:cNvSpPr/>
          <p:nvPr/>
        </p:nvSpPr>
        <p:spPr>
          <a:xfrm>
            <a:off x="1417320" y="4023360"/>
            <a:ext cx="384048" cy="384048"/>
          </a:xfrm>
          <a:prstGeom prst="ellipse">
            <a:avLst/>
          </a:prstGeom>
          <a:solidFill>
            <a:srgbClr val="0E7C7B"/>
          </a:solidFill>
          <a:ln w="12700">
            <a:solidFill>
              <a:srgbClr val="0E7C7B"/>
            </a:solidFill>
            <a:prstDash val="solid"/>
          </a:ln>
        </p:spPr>
      </p:sp>
      <p:sp>
        <p:nvSpPr>
          <p:cNvPr id="8" name="Text 6"/>
          <p:cNvSpPr txBox="1"/>
          <p:nvPr/>
        </p:nvSpPr>
        <p:spPr>
          <a:xfrm>
            <a:off x="1417320" y="4023360"/>
            <a:ext cx="384048" cy="384048"/>
          </a:xfrm>
          <a:prstGeom prst="rect">
            <a:avLst/>
          </a:prstGeom>
          <a:noFill/>
          <a:ln/>
        </p:spPr>
        <p:txBody>
          <a:bodyPr wrap="square" lIns="0" tIns="0" rIns="0" bIns="0" rtlCol="0" anchor="ctr"/>
          <a:lstStyle/>
          <a:p>
            <a:pPr algn="ctr" indent="0" marL="0">
              <a:buNone/>
            </a:pPr>
            <a:endParaRPr lang="en-US" sz="1600" dirty="0"/>
          </a:p>
        </p:txBody>
      </p:sp>
      <p:sp>
        <p:nvSpPr>
          <p:cNvPr id="9" name="Shape 7"/>
          <p:cNvSpPr/>
          <p:nvPr/>
        </p:nvSpPr>
        <p:spPr>
          <a:xfrm>
            <a:off x="2103120" y="4023360"/>
            <a:ext cx="384048" cy="384048"/>
          </a:xfrm>
          <a:prstGeom prst="ellipse">
            <a:avLst/>
          </a:prstGeom>
          <a:solidFill>
            <a:srgbClr val="0E7C7B"/>
          </a:solidFill>
          <a:ln w="12700">
            <a:solidFill>
              <a:srgbClr val="0E7C7B"/>
            </a:solidFill>
            <a:prstDash val="solid"/>
          </a:ln>
        </p:spPr>
      </p:sp>
      <p:sp>
        <p:nvSpPr>
          <p:cNvPr id="10" name="Text 8"/>
          <p:cNvSpPr txBox="1"/>
          <p:nvPr/>
        </p:nvSpPr>
        <p:spPr>
          <a:xfrm>
            <a:off x="2103120" y="4023360"/>
            <a:ext cx="384048" cy="384048"/>
          </a:xfrm>
          <a:prstGeom prst="rect">
            <a:avLst/>
          </a:prstGeom>
          <a:noFill/>
          <a:ln/>
        </p:spPr>
        <p:txBody>
          <a:bodyPr wrap="square" lIns="0" tIns="0" rIns="0" bIns="0" rtlCol="0" anchor="ctr"/>
          <a:lstStyle/>
          <a:p>
            <a:pPr algn="ctr" indent="0" marL="0">
              <a:buNone/>
            </a:pPr>
            <a:endParaRPr lang="en-US" sz="1600" dirty="0"/>
          </a:p>
        </p:txBody>
      </p:sp>
      <p:sp>
        <p:nvSpPr>
          <p:cNvPr id="11" name="Shape 9"/>
          <p:cNvSpPr/>
          <p:nvPr/>
        </p:nvSpPr>
        <p:spPr>
          <a:xfrm>
            <a:off x="2788920" y="4023360"/>
            <a:ext cx="384048" cy="384048"/>
          </a:xfrm>
          <a:prstGeom prst="ellipse">
            <a:avLst/>
          </a:prstGeom>
          <a:solidFill>
            <a:srgbClr val="0E7C7B"/>
          </a:solidFill>
          <a:ln w="12700">
            <a:solidFill>
              <a:srgbClr val="0E7C7B"/>
            </a:solidFill>
            <a:prstDash val="solid"/>
          </a:ln>
        </p:spPr>
      </p:sp>
      <p:sp>
        <p:nvSpPr>
          <p:cNvPr id="12" name="Text 10"/>
          <p:cNvSpPr txBox="1"/>
          <p:nvPr/>
        </p:nvSpPr>
        <p:spPr>
          <a:xfrm>
            <a:off x="2788920" y="4023360"/>
            <a:ext cx="384048" cy="384048"/>
          </a:xfrm>
          <a:prstGeom prst="rect">
            <a:avLst/>
          </a:prstGeom>
          <a:noFill/>
          <a:ln/>
        </p:spPr>
        <p:txBody>
          <a:bodyPr wrap="square" lIns="0" tIns="0" rIns="0" bIns="0" rtlCol="0" anchor="ctr"/>
          <a:lstStyle/>
          <a:p>
            <a:pPr algn="ctr" indent="0" marL="0">
              <a:buNone/>
            </a:pPr>
            <a:endParaRPr lang="en-US" sz="1600" dirty="0"/>
          </a:p>
        </p:txBody>
      </p:sp>
      <p:sp>
        <p:nvSpPr>
          <p:cNvPr id="13" name="Text 11"/>
          <p:cNvSpPr txBox="1"/>
          <p:nvPr/>
        </p:nvSpPr>
        <p:spPr>
          <a:xfrm>
            <a:off x="731520" y="4846320"/>
            <a:ext cx="100584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Brian O'Connor (Nimbus Informatics) · Venkat Malladi (Verily)</a:t>
            </a:r>
            <a:endParaRPr lang="en-US" sz="1600" dirty="0"/>
          </a:p>
        </p:txBody>
      </p:sp>
      <p:sp>
        <p:nvSpPr>
          <p:cNvPr id="14" name="Text 12"/>
          <p:cNvSpPr txBox="1"/>
          <p:nvPr/>
        </p:nvSpPr>
        <p:spPr>
          <a:xfrm>
            <a:off x="731520" y="5257800"/>
            <a:ext cx="10058400" cy="365760"/>
          </a:xfrm>
          <a:prstGeom prst="rect">
            <a:avLst/>
          </a:prstGeom>
          <a:noFill/>
          <a:ln/>
        </p:spPr>
        <p:txBody>
          <a:bodyPr wrap="square" lIns="0" tIns="0" rIns="0" bIns="0" rtlCol="0" anchor="ctr"/>
          <a:lstStyle/>
          <a:p>
            <a:pPr indent="0" marL="0">
              <a:buNone/>
            </a:pPr>
            <a:r>
              <a:rPr lang="en-US" sz="1400" dirty="0">
                <a:solidFill>
                  <a:srgbClr val="7FC8C6"/>
                </a:solidFill>
                <a:latin typeface="Calibri" pitchFamily="34" charset="0"/>
                <a:ea typeface="Calibri" pitchFamily="34" charset="-122"/>
                <a:cs typeface="Calibri" pitchFamily="34" charset="-120"/>
              </a:rPr>
              <a:t>github.com/ga4gh/gif-project-federated-learning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Three hours, three outcomes</a:t>
            </a:r>
            <a:endParaRPr lang="en-US" sz="3200" dirty="0"/>
          </a:p>
        </p:txBody>
      </p:sp>
      <p:sp>
        <p:nvSpPr>
          <p:cNvPr id="3" name="Shape 1"/>
          <p:cNvSpPr/>
          <p:nvPr/>
        </p:nvSpPr>
        <p:spPr>
          <a:xfrm>
            <a:off x="457200" y="1417320"/>
            <a:ext cx="939775" cy="868680"/>
          </a:xfrm>
          <a:prstGeom prst="rect">
            <a:avLst/>
          </a:prstGeom>
          <a:solidFill>
            <a:srgbClr val="17303A"/>
          </a:solidFill>
          <a:ln w="25400">
            <a:solidFill>
              <a:srgbClr val="FFFFFF"/>
            </a:solidFill>
            <a:prstDash val="solid"/>
          </a:ln>
        </p:spPr>
      </p:sp>
      <p:sp>
        <p:nvSpPr>
          <p:cNvPr id="4" name="Text 2"/>
          <p:cNvSpPr txBox="1"/>
          <p:nvPr/>
        </p:nvSpPr>
        <p:spPr>
          <a:xfrm>
            <a:off x="502920" y="1417320"/>
            <a:ext cx="848335"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Framing</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15 min</a:t>
            </a:r>
            <a:endParaRPr lang="en-US" sz="1300" dirty="0"/>
          </a:p>
        </p:txBody>
      </p:sp>
      <p:sp>
        <p:nvSpPr>
          <p:cNvPr id="5" name="Text 3"/>
          <p:cNvSpPr txBox="1"/>
          <p:nvPr/>
        </p:nvSpPr>
        <p:spPr>
          <a:xfrm>
            <a:off x="411480" y="2331720"/>
            <a:ext cx="54864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0:00</a:t>
            </a:r>
            <a:endParaRPr lang="en-US" sz="1000" dirty="0"/>
          </a:p>
        </p:txBody>
      </p:sp>
      <p:sp>
        <p:nvSpPr>
          <p:cNvPr id="6" name="Shape 4"/>
          <p:cNvSpPr/>
          <p:nvPr/>
        </p:nvSpPr>
        <p:spPr>
          <a:xfrm>
            <a:off x="1396975" y="1417320"/>
            <a:ext cx="1566291" cy="868680"/>
          </a:xfrm>
          <a:prstGeom prst="rect">
            <a:avLst/>
          </a:prstGeom>
          <a:solidFill>
            <a:srgbClr val="24495A"/>
          </a:solidFill>
          <a:ln w="25400">
            <a:solidFill>
              <a:srgbClr val="FFFFFF"/>
            </a:solidFill>
            <a:prstDash val="solid"/>
          </a:ln>
        </p:spPr>
      </p:sp>
      <p:sp>
        <p:nvSpPr>
          <p:cNvPr id="7" name="Text 5"/>
          <p:cNvSpPr txBox="1"/>
          <p:nvPr/>
        </p:nvSpPr>
        <p:spPr>
          <a:xfrm>
            <a:off x="1442695" y="1417320"/>
            <a:ext cx="1474851"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Evaluator readouts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25 min</a:t>
            </a:r>
            <a:endParaRPr lang="en-US" sz="1300" dirty="0"/>
          </a:p>
        </p:txBody>
      </p:sp>
      <p:sp>
        <p:nvSpPr>
          <p:cNvPr id="8" name="Text 6"/>
          <p:cNvSpPr txBox="1"/>
          <p:nvPr/>
        </p:nvSpPr>
        <p:spPr>
          <a:xfrm>
            <a:off x="1351255" y="2331720"/>
            <a:ext cx="54864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0:15</a:t>
            </a:r>
            <a:endParaRPr lang="en-US" sz="1000" dirty="0"/>
          </a:p>
        </p:txBody>
      </p:sp>
      <p:sp>
        <p:nvSpPr>
          <p:cNvPr id="9" name="Shape 7"/>
          <p:cNvSpPr/>
          <p:nvPr/>
        </p:nvSpPr>
        <p:spPr>
          <a:xfrm>
            <a:off x="2963266" y="1417320"/>
            <a:ext cx="1253033" cy="868680"/>
          </a:xfrm>
          <a:prstGeom prst="rect">
            <a:avLst/>
          </a:prstGeom>
          <a:solidFill>
            <a:srgbClr val="C9821F"/>
          </a:solidFill>
          <a:ln w="25400">
            <a:solidFill>
              <a:srgbClr val="FFFFFF"/>
            </a:solidFill>
            <a:prstDash val="solid"/>
          </a:ln>
        </p:spPr>
      </p:sp>
      <p:sp>
        <p:nvSpPr>
          <p:cNvPr id="10" name="Text 8"/>
          <p:cNvSpPr txBox="1"/>
          <p:nvPr/>
        </p:nvSpPr>
        <p:spPr>
          <a:xfrm>
            <a:off x="3008986" y="1417320"/>
            <a:ext cx="1161593"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Decisions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20 min</a:t>
            </a:r>
            <a:endParaRPr lang="en-US" sz="1300" dirty="0"/>
          </a:p>
        </p:txBody>
      </p:sp>
      <p:sp>
        <p:nvSpPr>
          <p:cNvPr id="11" name="Text 9"/>
          <p:cNvSpPr txBox="1"/>
          <p:nvPr/>
        </p:nvSpPr>
        <p:spPr>
          <a:xfrm>
            <a:off x="2917546" y="2331720"/>
            <a:ext cx="54864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0:40</a:t>
            </a:r>
            <a:endParaRPr lang="en-US" sz="1000" dirty="0"/>
          </a:p>
        </p:txBody>
      </p:sp>
      <p:sp>
        <p:nvSpPr>
          <p:cNvPr id="12" name="Shape 10"/>
          <p:cNvSpPr/>
          <p:nvPr/>
        </p:nvSpPr>
        <p:spPr>
          <a:xfrm>
            <a:off x="4216298" y="1417320"/>
            <a:ext cx="313258" cy="868680"/>
          </a:xfrm>
          <a:prstGeom prst="rect">
            <a:avLst/>
          </a:prstGeom>
          <a:solidFill>
            <a:srgbClr val="B7C4CA"/>
          </a:solidFill>
          <a:ln w="25400">
            <a:solidFill>
              <a:srgbClr val="FFFFFF"/>
            </a:solidFill>
            <a:prstDash val="solid"/>
          </a:ln>
        </p:spPr>
      </p:sp>
      <p:sp>
        <p:nvSpPr>
          <p:cNvPr id="13" name="Text 11"/>
          <p:cNvSpPr txBox="1"/>
          <p:nvPr/>
        </p:nvSpPr>
        <p:spPr>
          <a:xfrm>
            <a:off x="4170578" y="2331720"/>
            <a:ext cx="54864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1:00</a:t>
            </a:r>
            <a:endParaRPr lang="en-US" sz="1000" dirty="0"/>
          </a:p>
        </p:txBody>
      </p:sp>
      <p:sp>
        <p:nvSpPr>
          <p:cNvPr id="14" name="Shape 12"/>
          <p:cNvSpPr/>
          <p:nvPr/>
        </p:nvSpPr>
        <p:spPr>
          <a:xfrm>
            <a:off x="4529557" y="1417320"/>
            <a:ext cx="5012131" cy="868680"/>
          </a:xfrm>
          <a:prstGeom prst="rect">
            <a:avLst/>
          </a:prstGeom>
          <a:solidFill>
            <a:srgbClr val="0E7C7B"/>
          </a:solidFill>
          <a:ln w="25400">
            <a:solidFill>
              <a:srgbClr val="FFFFFF"/>
            </a:solidFill>
            <a:prstDash val="solid"/>
          </a:ln>
        </p:spPr>
      </p:sp>
      <p:sp>
        <p:nvSpPr>
          <p:cNvPr id="15" name="Text 13"/>
          <p:cNvSpPr txBox="1"/>
          <p:nvPr/>
        </p:nvSpPr>
        <p:spPr>
          <a:xfrm>
            <a:off x="4575277" y="1417320"/>
            <a:ext cx="4920691"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Parallel tracks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80 min</a:t>
            </a:r>
            <a:endParaRPr lang="en-US" sz="1300" dirty="0"/>
          </a:p>
        </p:txBody>
      </p:sp>
      <p:sp>
        <p:nvSpPr>
          <p:cNvPr id="16" name="Text 14"/>
          <p:cNvSpPr txBox="1"/>
          <p:nvPr/>
        </p:nvSpPr>
        <p:spPr>
          <a:xfrm>
            <a:off x="4483837" y="2331720"/>
            <a:ext cx="54864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1:05</a:t>
            </a:r>
            <a:endParaRPr lang="en-US" sz="1000" dirty="0"/>
          </a:p>
        </p:txBody>
      </p:sp>
      <p:sp>
        <p:nvSpPr>
          <p:cNvPr id="17" name="Shape 15"/>
          <p:cNvSpPr/>
          <p:nvPr/>
        </p:nvSpPr>
        <p:spPr>
          <a:xfrm>
            <a:off x="9541688" y="1417320"/>
            <a:ext cx="1566291" cy="868680"/>
          </a:xfrm>
          <a:prstGeom prst="rect">
            <a:avLst/>
          </a:prstGeom>
          <a:solidFill>
            <a:srgbClr val="24495A"/>
          </a:solidFill>
          <a:ln w="25400">
            <a:solidFill>
              <a:srgbClr val="FFFFFF"/>
            </a:solidFill>
            <a:prstDash val="solid"/>
          </a:ln>
        </p:spPr>
      </p:sp>
      <p:sp>
        <p:nvSpPr>
          <p:cNvPr id="18" name="Text 16"/>
          <p:cNvSpPr txBox="1"/>
          <p:nvPr/>
        </p:nvSpPr>
        <p:spPr>
          <a:xfrm>
            <a:off x="9587408" y="1417320"/>
            <a:ext cx="1474851"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Report-outs</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25 min</a:t>
            </a:r>
            <a:endParaRPr lang="en-US" sz="1300" dirty="0"/>
          </a:p>
        </p:txBody>
      </p:sp>
      <p:sp>
        <p:nvSpPr>
          <p:cNvPr id="19" name="Text 17"/>
          <p:cNvSpPr txBox="1"/>
          <p:nvPr/>
        </p:nvSpPr>
        <p:spPr>
          <a:xfrm>
            <a:off x="9495968" y="2331720"/>
            <a:ext cx="54864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2:25</a:t>
            </a:r>
            <a:endParaRPr lang="en-US" sz="1000" dirty="0"/>
          </a:p>
        </p:txBody>
      </p:sp>
      <p:sp>
        <p:nvSpPr>
          <p:cNvPr id="20" name="Shape 18"/>
          <p:cNvSpPr/>
          <p:nvPr/>
        </p:nvSpPr>
        <p:spPr>
          <a:xfrm>
            <a:off x="11107979" y="1417320"/>
            <a:ext cx="626516" cy="868680"/>
          </a:xfrm>
          <a:prstGeom prst="rect">
            <a:avLst/>
          </a:prstGeom>
          <a:solidFill>
            <a:srgbClr val="17303A"/>
          </a:solidFill>
          <a:ln w="25400">
            <a:solidFill>
              <a:srgbClr val="FFFFFF"/>
            </a:solidFill>
            <a:prstDash val="solid"/>
          </a:ln>
        </p:spPr>
      </p:sp>
      <p:sp>
        <p:nvSpPr>
          <p:cNvPr id="21" name="Text 19"/>
          <p:cNvSpPr txBox="1"/>
          <p:nvPr/>
        </p:nvSpPr>
        <p:spPr>
          <a:xfrm>
            <a:off x="11153699" y="1417320"/>
            <a:ext cx="535076"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10 min</a:t>
            </a:r>
            <a:endParaRPr lang="en-US" sz="1300" dirty="0"/>
          </a:p>
        </p:txBody>
      </p:sp>
      <p:sp>
        <p:nvSpPr>
          <p:cNvPr id="22" name="Text 20"/>
          <p:cNvSpPr txBox="1"/>
          <p:nvPr/>
        </p:nvSpPr>
        <p:spPr>
          <a:xfrm>
            <a:off x="11062259" y="2331720"/>
            <a:ext cx="54864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2:50</a:t>
            </a:r>
            <a:endParaRPr lang="en-US" sz="1000" dirty="0"/>
          </a:p>
        </p:txBody>
      </p:sp>
      <p:sp>
        <p:nvSpPr>
          <p:cNvPr id="23" name="Text 21"/>
          <p:cNvSpPr txBox="1"/>
          <p:nvPr/>
        </p:nvSpPr>
        <p:spPr>
          <a:xfrm>
            <a:off x="11323015" y="2331720"/>
            <a:ext cx="457200" cy="274320"/>
          </a:xfrm>
          <a:prstGeom prst="rect">
            <a:avLst/>
          </a:prstGeom>
          <a:noFill/>
          <a:ln/>
        </p:spPr>
        <p:txBody>
          <a:bodyPr wrap="square" lIns="0" tIns="0" rIns="0" bIns="0" rtlCol="0" anchor="ctr"/>
          <a:lstStyle/>
          <a:p>
            <a:pPr algn="r" indent="0" marL="0">
              <a:buNone/>
            </a:pPr>
            <a:r>
              <a:rPr lang="en-US" sz="1000" dirty="0">
                <a:solidFill>
                  <a:srgbClr val="5B6770"/>
                </a:solidFill>
                <a:latin typeface="Calibri" pitchFamily="34" charset="0"/>
                <a:ea typeface="Calibri" pitchFamily="34" charset="-122"/>
                <a:cs typeface="Calibri" pitchFamily="34" charset="-120"/>
              </a:rPr>
              <a:t>3:00</a:t>
            </a:r>
            <a:endParaRPr lang="en-US" sz="1000" dirty="0"/>
          </a:p>
        </p:txBody>
      </p:sp>
      <p:sp>
        <p:nvSpPr>
          <p:cNvPr id="24" name="Text 22"/>
          <p:cNvSpPr txBox="1"/>
          <p:nvPr/>
        </p:nvSpPr>
        <p:spPr>
          <a:xfrm>
            <a:off x="457200" y="3017520"/>
            <a:ext cx="5486400" cy="411480"/>
          </a:xfrm>
          <a:prstGeom prst="rect">
            <a:avLst/>
          </a:prstGeom>
          <a:noFill/>
          <a:ln/>
        </p:spPr>
        <p:txBody>
          <a:bodyPr wrap="square" lIns="0" tIns="0" rIns="0" bIns="0" rtlCol="0" anchor="ctr"/>
          <a:lstStyle/>
          <a:p>
            <a:pPr indent="0" marL="0">
              <a:buNone/>
            </a:pPr>
            <a:r>
              <a:rPr lang="en-US" sz="2000" b="1" dirty="0">
                <a:solidFill>
                  <a:srgbClr val="1F2933"/>
                </a:solidFill>
                <a:latin typeface="Cambria" pitchFamily="34" charset="0"/>
                <a:ea typeface="Cambria" pitchFamily="34" charset="-122"/>
                <a:cs typeface="Cambria" pitchFamily="34" charset="-120"/>
              </a:rPr>
              <a:t>We leave with</a:t>
            </a:r>
            <a:endParaRPr lang="en-US" sz="2000" dirty="0"/>
          </a:p>
        </p:txBody>
      </p:sp>
      <p:sp>
        <p:nvSpPr>
          <p:cNvPr id="25" name="Shape 23"/>
          <p:cNvSpPr/>
          <p:nvPr/>
        </p:nvSpPr>
        <p:spPr>
          <a:xfrm>
            <a:off x="457200" y="3566160"/>
            <a:ext cx="3566160" cy="2103120"/>
          </a:xfrm>
          <a:prstGeom prst="roundRect">
            <a:avLst>
              <a:gd name="adj" fmla="val 4348"/>
            </a:avLst>
          </a:prstGeom>
          <a:solidFill>
            <a:srgbClr val="F2F5F6"/>
          </a:solidFill>
          <a:ln w="12700">
            <a:solidFill>
              <a:srgbClr val="F2F5F6"/>
            </a:solidFill>
            <a:prstDash val="solid"/>
          </a:ln>
        </p:spPr>
      </p:sp>
      <p:sp>
        <p:nvSpPr>
          <p:cNvPr id="26" name="Shape 24"/>
          <p:cNvSpPr/>
          <p:nvPr/>
        </p:nvSpPr>
        <p:spPr>
          <a:xfrm>
            <a:off x="731520" y="3794760"/>
            <a:ext cx="457200" cy="457200"/>
          </a:xfrm>
          <a:prstGeom prst="ellipse">
            <a:avLst/>
          </a:prstGeom>
          <a:solidFill>
            <a:srgbClr val="0E7C7B"/>
          </a:solidFill>
          <a:ln w="12700">
            <a:solidFill>
              <a:srgbClr val="0E7C7B"/>
            </a:solidFill>
            <a:prstDash val="solid"/>
          </a:ln>
        </p:spPr>
      </p:sp>
      <p:sp>
        <p:nvSpPr>
          <p:cNvPr id="27" name="Text 25"/>
          <p:cNvSpPr txBox="1"/>
          <p:nvPr/>
        </p:nvSpPr>
        <p:spPr>
          <a:xfrm>
            <a:off x="73152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8" name="Text 26"/>
          <p:cNvSpPr txBox="1"/>
          <p:nvPr/>
        </p:nvSpPr>
        <p:spPr>
          <a:xfrm>
            <a:off x="1325880" y="3794760"/>
            <a:ext cx="2560320" cy="45720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Decisions</a:t>
            </a:r>
            <a:endParaRPr lang="en-US" sz="1800" dirty="0"/>
          </a:p>
        </p:txBody>
      </p:sp>
      <p:sp>
        <p:nvSpPr>
          <p:cNvPr id="29" name="Text 27"/>
          <p:cNvSpPr txBox="1"/>
          <p:nvPr/>
        </p:nvSpPr>
        <p:spPr>
          <a:xfrm>
            <a:off x="731520" y="4434840"/>
            <a:ext cx="306324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Framework, WES vs. TES, DRS and WES/TES implementations, auth. Good enough to build on for 10 weeks.</a:t>
            </a:r>
            <a:endParaRPr lang="en-US" sz="1400" dirty="0"/>
          </a:p>
        </p:txBody>
      </p:sp>
      <p:sp>
        <p:nvSpPr>
          <p:cNvPr id="30" name="Shape 28"/>
          <p:cNvSpPr/>
          <p:nvPr/>
        </p:nvSpPr>
        <p:spPr>
          <a:xfrm>
            <a:off x="4279392" y="3566160"/>
            <a:ext cx="3566160" cy="2103120"/>
          </a:xfrm>
          <a:prstGeom prst="roundRect">
            <a:avLst>
              <a:gd name="adj" fmla="val 4348"/>
            </a:avLst>
          </a:prstGeom>
          <a:solidFill>
            <a:srgbClr val="F2F5F6"/>
          </a:solidFill>
          <a:ln w="12700">
            <a:solidFill>
              <a:srgbClr val="F2F5F6"/>
            </a:solidFill>
            <a:prstDash val="solid"/>
          </a:ln>
        </p:spPr>
      </p:sp>
      <p:sp>
        <p:nvSpPr>
          <p:cNvPr id="31" name="Shape 29"/>
          <p:cNvSpPr/>
          <p:nvPr/>
        </p:nvSpPr>
        <p:spPr>
          <a:xfrm>
            <a:off x="4553712" y="3794760"/>
            <a:ext cx="457200" cy="457200"/>
          </a:xfrm>
          <a:prstGeom prst="ellipse">
            <a:avLst/>
          </a:prstGeom>
          <a:solidFill>
            <a:srgbClr val="0E7C7B"/>
          </a:solidFill>
          <a:ln w="12700">
            <a:solidFill>
              <a:srgbClr val="0E7C7B"/>
            </a:solidFill>
            <a:prstDash val="solid"/>
          </a:ln>
        </p:spPr>
      </p:sp>
      <p:sp>
        <p:nvSpPr>
          <p:cNvPr id="32" name="Text 30"/>
          <p:cNvSpPr txBox="1"/>
          <p:nvPr/>
        </p:nvSpPr>
        <p:spPr>
          <a:xfrm>
            <a:off x="4553712"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33" name="Text 31"/>
          <p:cNvSpPr txBox="1"/>
          <p:nvPr/>
        </p:nvSpPr>
        <p:spPr>
          <a:xfrm>
            <a:off x="5148072" y="3794760"/>
            <a:ext cx="2560320" cy="45720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Something running</a:t>
            </a:r>
            <a:endParaRPr lang="en-US" sz="1800" dirty="0"/>
          </a:p>
        </p:txBody>
      </p:sp>
      <p:sp>
        <p:nvSpPr>
          <p:cNvPr id="34" name="Text 32"/>
          <p:cNvSpPr txBox="1"/>
          <p:nvPr/>
        </p:nvSpPr>
        <p:spPr>
          <a:xfrm>
            <a:off x="4553712" y="4434840"/>
            <a:ext cx="306324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technical track shows a working piece, even a rough one. Gaps hit today become api-gap issues.</a:t>
            </a:r>
            <a:endParaRPr lang="en-US" sz="1400" dirty="0"/>
          </a:p>
        </p:txBody>
      </p:sp>
      <p:sp>
        <p:nvSpPr>
          <p:cNvPr id="35" name="Shape 33"/>
          <p:cNvSpPr/>
          <p:nvPr/>
        </p:nvSpPr>
        <p:spPr>
          <a:xfrm>
            <a:off x="8101584" y="3566160"/>
            <a:ext cx="3566160" cy="2103120"/>
          </a:xfrm>
          <a:prstGeom prst="roundRect">
            <a:avLst>
              <a:gd name="adj" fmla="val 4348"/>
            </a:avLst>
          </a:prstGeom>
          <a:solidFill>
            <a:srgbClr val="F2F5F6"/>
          </a:solidFill>
          <a:ln w="12700">
            <a:solidFill>
              <a:srgbClr val="F2F5F6"/>
            </a:solidFill>
            <a:prstDash val="solid"/>
          </a:ln>
        </p:spPr>
      </p:sp>
      <p:sp>
        <p:nvSpPr>
          <p:cNvPr id="36" name="Shape 34"/>
          <p:cNvSpPr/>
          <p:nvPr/>
        </p:nvSpPr>
        <p:spPr>
          <a:xfrm>
            <a:off x="8375904" y="3794760"/>
            <a:ext cx="457200" cy="457200"/>
          </a:xfrm>
          <a:prstGeom prst="ellipse">
            <a:avLst/>
          </a:prstGeom>
          <a:solidFill>
            <a:srgbClr val="0E7C7B"/>
          </a:solidFill>
          <a:ln w="12700">
            <a:solidFill>
              <a:srgbClr val="0E7C7B"/>
            </a:solidFill>
            <a:prstDash val="solid"/>
          </a:ln>
        </p:spPr>
      </p:sp>
      <p:sp>
        <p:nvSpPr>
          <p:cNvPr id="37" name="Text 35"/>
          <p:cNvSpPr txBox="1"/>
          <p:nvPr/>
        </p:nvSpPr>
        <p:spPr>
          <a:xfrm>
            <a:off x="8375904"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8" name="Text 36"/>
          <p:cNvSpPr txBox="1"/>
          <p:nvPr/>
        </p:nvSpPr>
        <p:spPr>
          <a:xfrm>
            <a:off x="8970264" y="3794760"/>
            <a:ext cx="2560320" cy="45720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Names on work</a:t>
            </a:r>
            <a:endParaRPr lang="en-US" sz="1800" dirty="0"/>
          </a:p>
        </p:txBody>
      </p:sp>
      <p:sp>
        <p:nvSpPr>
          <p:cNvPr id="39" name="Text 37"/>
          <p:cNvSpPr txBox="1"/>
          <p:nvPr/>
        </p:nvSpPr>
        <p:spPr>
          <a:xfrm>
            <a:off x="8375904" y="4434840"/>
            <a:ext cx="3063240" cy="146304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champion (or candidate) for each of the five workstreams, and a readiness survey from every Driver Project here.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The math of federated learning is solved. The plumbing is not.</a:t>
            </a:r>
            <a:endParaRPr lang="en-US" sz="3200" dirty="0"/>
          </a:p>
        </p:txBody>
      </p:sp>
      <p:sp>
        <p:nvSpPr>
          <p:cNvPr id="3" name="Text 1"/>
          <p:cNvSpPr txBox="1"/>
          <p:nvPr/>
        </p:nvSpPr>
        <p:spPr>
          <a:xfrm>
            <a:off x="457200" y="1463040"/>
            <a:ext cx="5760720" cy="44805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F2933"/>
                </a:solidFill>
                <a:latin typeface="Calibri" pitchFamily="34" charset="0"/>
                <a:ea typeface="Calibri" pitchFamily="34" charset="-122"/>
                <a:cs typeface="Calibri" pitchFamily="34" charset="-120"/>
              </a:rPr>
              <a:t>Curated variant data sits at hospitals and labs behind privacy law and governance. No single site has enough, or diverse enough, data to train a model that generalizes.</a:t>
            </a:r>
            <a:endParaRPr lang="en-US" sz="1600" dirty="0"/>
          </a:p>
          <a:p>
            <a:pPr marL="342900" indent="-342900">
              <a:spcAft>
                <a:spcPts val="600"/>
              </a:spcAft>
              <a:buSzPct val="100000"/>
              <a:buChar char="•"/>
            </a:pPr>
            <a:r>
              <a:rPr lang="en-US" sz="1600" dirty="0">
                <a:solidFill>
                  <a:srgbClr val="1F2933"/>
                </a:solidFill>
                <a:latin typeface="Calibri" pitchFamily="34" charset="0"/>
                <a:ea typeface="Calibri" pitchFamily="34" charset="-122"/>
                <a:cs typeface="Calibri" pitchFamily="34" charset="-120"/>
              </a:rPr>
              <a:t>FL moves training to the data: sites train locally and send only DP-noised weight updates to an aggregator.</a:t>
            </a:r>
            <a:endParaRPr lang="en-US" sz="1600" dirty="0"/>
          </a:p>
          <a:p>
            <a:pPr marL="342900" indent="-342900">
              <a:spcAft>
                <a:spcPts val="600"/>
              </a:spcAft>
              <a:buSzPct val="100000"/>
              <a:buChar char="•"/>
            </a:pPr>
            <a:r>
              <a:rPr lang="en-US" sz="1600" dirty="0">
                <a:solidFill>
                  <a:srgbClr val="1F2933"/>
                </a:solidFill>
                <a:latin typeface="Calibri" pitchFamily="34" charset="0"/>
                <a:ea typeface="Calibri" pitchFamily="34" charset="-122"/>
                <a:cs typeface="Calibri" pitchFamily="34" charset="-120"/>
              </a:rPr>
              <a:t>Every FL framework brings its own job dispatch, data movement, and auth. Each site has to adopt that plumbing, which is what stalls cross-institution work.</a:t>
            </a:r>
            <a:endParaRPr lang="en-US" sz="1600" dirty="0"/>
          </a:p>
          <a:p>
            <a:pPr marL="342900" indent="-342900">
              <a:spcAft>
                <a:spcPts val="600"/>
              </a:spcAft>
              <a:buSzPct val="100000"/>
              <a:buChar char="•"/>
            </a:pPr>
            <a:r>
              <a:rPr lang="en-US" sz="1600" dirty="0">
                <a:solidFill>
                  <a:srgbClr val="1F2933"/>
                </a:solidFill>
                <a:latin typeface="Calibri" pitchFamily="34" charset="0"/>
                <a:ea typeface="Calibri" pitchFamily="34" charset="-122"/>
                <a:cs typeface="Calibri" pitchFamily="34" charset="-120"/>
              </a:rPr>
              <a:t>GA4GH already standardizes that plumbing, and many sites run it for other reasons. Can FL ride on it, and where does it break?</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5120640" cy="914400"/>
        </p:xfrm>
        <a:graphic>
          <a:graphicData uri="http://schemas.openxmlformats.org/drawingml/2006/table">
            <a:tbl>
              <a:tblPr/>
              <a:tblGrid>
                <a:gridCol w="3200400"/>
                <a:gridCol w="192024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FL needs to…</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GA4GH API</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r>
              <a:tr h="54864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Dispatch a training job to a site</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b="1" dirty="0">
                          <a:solidFill>
                            <a:srgbClr val="0A5857"/>
                          </a:solidFill>
                          <a:latin typeface="Calibri" pitchFamily="34" charset="0"/>
                          <a:ea typeface="Calibri" pitchFamily="34" charset="-122"/>
                          <a:cs typeface="Calibri" pitchFamily="34" charset="-120"/>
                        </a:rPr>
                        <a:t>WES / TES</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r h="54864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Read local data, move weights</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500" b="1" dirty="0">
                          <a:solidFill>
                            <a:srgbClr val="0A5857"/>
                          </a:solidFill>
                          <a:latin typeface="Calibri" pitchFamily="34" charset="0"/>
                          <a:ea typeface="Calibri" pitchFamily="34" charset="-122"/>
                          <a:cs typeface="Calibri" pitchFamily="34" charset="-120"/>
                        </a:rPr>
                        <a:t>DRS</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Authorize the coordinator</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b="1" dirty="0">
                          <a:solidFill>
                            <a:srgbClr val="0A5857"/>
                          </a:solidFill>
                          <a:latin typeface="Calibri" pitchFamily="34" charset="0"/>
                          <a:ea typeface="Calibri" pitchFamily="34" charset="-122"/>
                          <a:cs typeface="Calibri" pitchFamily="34" charset="-120"/>
                        </a:rPr>
                        <a:t>Passports / AAI</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r h="54864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Version the workflow and container</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500" b="1" dirty="0">
                          <a:solidFill>
                            <a:srgbClr val="0A5857"/>
                          </a:solidFill>
                          <a:latin typeface="Calibri" pitchFamily="34" charset="0"/>
                          <a:ea typeface="Calibri" pitchFamily="34" charset="-122"/>
                          <a:cs typeface="Calibri" pitchFamily="34" charset="-120"/>
                        </a:rPr>
                        <a:t>TRS / Dockstore</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Express data-use conditions</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b="1" dirty="0">
                          <a:solidFill>
                            <a:srgbClr val="0A5857"/>
                          </a:solidFill>
                          <a:latin typeface="Calibri" pitchFamily="34" charset="0"/>
                          <a:ea typeface="Calibri" pitchFamily="34" charset="-122"/>
                          <a:cs typeface="Calibri" pitchFamily="34" charset="-120"/>
                        </a:rPr>
                        <a:t>DUO</a:t>
                      </a:r>
                      <a:endParaRPr lang="en-US" sz="1500" dirty="0">
                        <a:latin typeface="Calibri" charset="0"/>
                        <a:ea typeface="Calibri" charset="0"/>
                        <a:cs typeface="Calibri" charset="0"/>
                      </a:endParaRPr>
                    </a:p>
                  </a:txBody>
                  <a:tcPr marL="109728" marR="109728" marT="0" marB="0"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bl>
          </a:graphicData>
        </a:graphic>
      </p:graphicFrame>
      <p:sp>
        <p:nvSpPr>
          <p:cNvPr id="5" name="Text 2"/>
          <p:cNvSpPr txBox="1"/>
          <p:nvPr/>
        </p:nvSpPr>
        <p:spPr>
          <a:xfrm>
            <a:off x="6583680" y="5120640"/>
            <a:ext cx="5120640" cy="731520"/>
          </a:xfrm>
          <a:prstGeom prst="rect">
            <a:avLst/>
          </a:prstGeom>
          <a:noFill/>
          <a:ln/>
        </p:spPr>
        <p:txBody>
          <a:bodyPr wrap="square" lIns="0" tIns="0" rIns="0" bIns="0" rtlCol="0" anchor="ctr"/>
          <a:lstStyle/>
          <a:p>
            <a:pPr indent="0" marL="0">
              <a:buNone/>
            </a:pPr>
            <a:r>
              <a:rPr lang="en-US" sz="1400" i="1" dirty="0">
                <a:solidFill>
                  <a:srgbClr val="C9821F"/>
                </a:solidFill>
                <a:latin typeface="Calibri" pitchFamily="34" charset="0"/>
                <a:ea typeface="Calibri" pitchFamily="34" charset="-122"/>
                <a:cs typeface="Calibri" pitchFamily="34" charset="-120"/>
              </a:rPr>
              <a:t>The gap report back to the work streams is the main outcome, not a side effect.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What we're building</a:t>
            </a:r>
            <a:endParaRPr lang="en-US" sz="3200" dirty="0"/>
          </a:p>
        </p:txBody>
      </p:sp>
      <p:sp>
        <p:nvSpPr>
          <p:cNvPr id="3" name="Text 1"/>
          <p:cNvSpPr txBox="1"/>
          <p:nvPr/>
        </p:nvSpPr>
        <p:spPr>
          <a:xfrm>
            <a:off x="457200" y="1005840"/>
            <a:ext cx="11277295" cy="41148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Then repeat steps 1–4 as each new Driver Project joins.</a:t>
            </a:r>
            <a:endParaRPr lang="en-US" sz="1500" dirty="0"/>
          </a:p>
        </p:txBody>
      </p:sp>
      <p:sp>
        <p:nvSpPr>
          <p:cNvPr id="4" name="Shape 2"/>
          <p:cNvSpPr/>
          <p:nvPr/>
        </p:nvSpPr>
        <p:spPr>
          <a:xfrm>
            <a:off x="457200" y="1783080"/>
            <a:ext cx="2103120" cy="3566160"/>
          </a:xfrm>
          <a:prstGeom prst="roundRect">
            <a:avLst>
              <a:gd name="adj" fmla="val 4348"/>
            </a:avLst>
          </a:prstGeom>
          <a:solidFill>
            <a:srgbClr val="F2F5F6"/>
          </a:solidFill>
          <a:ln w="12700">
            <a:solidFill>
              <a:srgbClr val="F2F5F6"/>
            </a:solidFill>
            <a:prstDash val="solid"/>
          </a:ln>
        </p:spPr>
      </p:sp>
      <p:sp>
        <p:nvSpPr>
          <p:cNvPr id="5" name="Shape 3"/>
          <p:cNvSpPr/>
          <p:nvPr/>
        </p:nvSpPr>
        <p:spPr>
          <a:xfrm>
            <a:off x="685800" y="2011680"/>
            <a:ext cx="502920" cy="502920"/>
          </a:xfrm>
          <a:prstGeom prst="ellipse">
            <a:avLst/>
          </a:prstGeom>
          <a:solidFill>
            <a:srgbClr val="0E7C7B"/>
          </a:solidFill>
          <a:ln w="12700">
            <a:solidFill>
              <a:srgbClr val="0E7C7B"/>
            </a:solidFill>
            <a:prstDash val="solid"/>
          </a:ln>
        </p:spPr>
      </p:sp>
      <p:sp>
        <p:nvSpPr>
          <p:cNvPr id="6" name="Text 4"/>
          <p:cNvSpPr txBox="1"/>
          <p:nvPr/>
        </p:nvSpPr>
        <p:spPr>
          <a:xfrm>
            <a:off x="685800"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685800" y="2697480"/>
            <a:ext cx="1737360" cy="45720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Node-in-a-box</a:t>
            </a:r>
            <a:endParaRPr lang="en-US" sz="1800" dirty="0"/>
          </a:p>
        </p:txBody>
      </p:sp>
      <p:sp>
        <p:nvSpPr>
          <p:cNvPr id="8" name="Text 6"/>
          <p:cNvSpPr txBox="1"/>
          <p:nvPr/>
        </p:nvSpPr>
        <p:spPr>
          <a:xfrm>
            <a:off x="685800" y="3200400"/>
            <a:ext cx="1737360" cy="201168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docker compose with WES/TES, DRS + object store, and auth. Any Driver Project can run it on a VM.</a:t>
            </a:r>
            <a:endParaRPr lang="en-US" sz="1350" dirty="0"/>
          </a:p>
        </p:txBody>
      </p:sp>
      <p:sp>
        <p:nvSpPr>
          <p:cNvPr id="9" name="Shape 7"/>
          <p:cNvSpPr/>
          <p:nvPr/>
        </p:nvSpPr>
        <p:spPr>
          <a:xfrm>
            <a:off x="2761488" y="1783080"/>
            <a:ext cx="2103120" cy="3566160"/>
          </a:xfrm>
          <a:prstGeom prst="roundRect">
            <a:avLst>
              <a:gd name="adj" fmla="val 4348"/>
            </a:avLst>
          </a:prstGeom>
          <a:solidFill>
            <a:srgbClr val="F2F5F6"/>
          </a:solidFill>
          <a:ln w="12700">
            <a:solidFill>
              <a:srgbClr val="F2F5F6"/>
            </a:solidFill>
            <a:prstDash val="solid"/>
          </a:ln>
        </p:spPr>
      </p:sp>
      <p:sp>
        <p:nvSpPr>
          <p:cNvPr id="10" name="Shape 8"/>
          <p:cNvSpPr/>
          <p:nvPr/>
        </p:nvSpPr>
        <p:spPr>
          <a:xfrm>
            <a:off x="2990088" y="2011680"/>
            <a:ext cx="502920" cy="502920"/>
          </a:xfrm>
          <a:prstGeom prst="ellipse">
            <a:avLst/>
          </a:prstGeom>
          <a:solidFill>
            <a:srgbClr val="0E7C7B"/>
          </a:solidFill>
          <a:ln w="12700">
            <a:solidFill>
              <a:srgbClr val="0E7C7B"/>
            </a:solidFill>
            <a:prstDash val="solid"/>
          </a:ln>
        </p:spPr>
      </p:sp>
      <p:sp>
        <p:nvSpPr>
          <p:cNvPr id="11" name="Text 9"/>
          <p:cNvSpPr txBox="1"/>
          <p:nvPr/>
        </p:nvSpPr>
        <p:spPr>
          <a:xfrm>
            <a:off x="2990088"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2990088" y="2697480"/>
            <a:ext cx="1737360" cy="45720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Synthetic data</a:t>
            </a:r>
            <a:endParaRPr lang="en-US" sz="1800" dirty="0"/>
          </a:p>
        </p:txBody>
      </p:sp>
      <p:sp>
        <p:nvSpPr>
          <p:cNvPr id="13" name="Text 11"/>
          <p:cNvSpPr txBox="1"/>
          <p:nvPr/>
        </p:nvSpPr>
        <p:spPr>
          <a:xfrm>
            <a:off x="2990088" y="3200400"/>
            <a:ext cx="1737360" cy="201168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Generated once, centrally. ClinVar-derived, planted signal, ancestry-skewed partitions handed to sites.</a:t>
            </a:r>
            <a:endParaRPr lang="en-US" sz="1350" dirty="0"/>
          </a:p>
        </p:txBody>
      </p:sp>
      <p:sp>
        <p:nvSpPr>
          <p:cNvPr id="14" name="Shape 12"/>
          <p:cNvSpPr/>
          <p:nvPr/>
        </p:nvSpPr>
        <p:spPr>
          <a:xfrm>
            <a:off x="5065776" y="1783080"/>
            <a:ext cx="2103120" cy="3566160"/>
          </a:xfrm>
          <a:prstGeom prst="roundRect">
            <a:avLst>
              <a:gd name="adj" fmla="val 4348"/>
            </a:avLst>
          </a:prstGeom>
          <a:solidFill>
            <a:srgbClr val="F2F5F6"/>
          </a:solidFill>
          <a:ln w="12700">
            <a:solidFill>
              <a:srgbClr val="F2F5F6"/>
            </a:solidFill>
            <a:prstDash val="solid"/>
          </a:ln>
        </p:spPr>
      </p:sp>
      <p:sp>
        <p:nvSpPr>
          <p:cNvPr id="15" name="Shape 13"/>
          <p:cNvSpPr/>
          <p:nvPr/>
        </p:nvSpPr>
        <p:spPr>
          <a:xfrm>
            <a:off x="5294376" y="2011680"/>
            <a:ext cx="502920" cy="502920"/>
          </a:xfrm>
          <a:prstGeom prst="ellipse">
            <a:avLst/>
          </a:prstGeom>
          <a:solidFill>
            <a:srgbClr val="0E7C7B"/>
          </a:solidFill>
          <a:ln w="12700">
            <a:solidFill>
              <a:srgbClr val="0E7C7B"/>
            </a:solidFill>
            <a:prstDash val="solid"/>
          </a:ln>
        </p:spPr>
      </p:sp>
      <p:sp>
        <p:nvSpPr>
          <p:cNvPr id="16" name="Text 14"/>
          <p:cNvSpPr txBox="1"/>
          <p:nvPr/>
        </p:nvSpPr>
        <p:spPr>
          <a:xfrm>
            <a:off x="5294376"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5294376" y="2697480"/>
            <a:ext cx="1737360" cy="45720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Coordinator</a:t>
            </a:r>
            <a:endParaRPr lang="en-US" sz="1800" dirty="0"/>
          </a:p>
        </p:txBody>
      </p:sp>
      <p:sp>
        <p:nvSpPr>
          <p:cNvPr id="18" name="Text 16"/>
          <p:cNvSpPr txBox="1"/>
          <p:nvPr/>
        </p:nvSpPr>
        <p:spPr>
          <a:xfrm>
            <a:off x="5294376" y="3200400"/>
            <a:ext cx="1737360" cy="201168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Runs FedAvg rounds: dispatch via WES/TES, weights in and out via DRS.</a:t>
            </a:r>
            <a:endParaRPr lang="en-US" sz="1350" dirty="0"/>
          </a:p>
        </p:txBody>
      </p:sp>
      <p:sp>
        <p:nvSpPr>
          <p:cNvPr id="19" name="Shape 17"/>
          <p:cNvSpPr/>
          <p:nvPr/>
        </p:nvSpPr>
        <p:spPr>
          <a:xfrm>
            <a:off x="7370064" y="1783080"/>
            <a:ext cx="2103120" cy="3566160"/>
          </a:xfrm>
          <a:prstGeom prst="roundRect">
            <a:avLst>
              <a:gd name="adj" fmla="val 4348"/>
            </a:avLst>
          </a:prstGeom>
          <a:solidFill>
            <a:srgbClr val="F2F5F6"/>
          </a:solidFill>
          <a:ln w="12700">
            <a:solidFill>
              <a:srgbClr val="F2F5F6"/>
            </a:solidFill>
            <a:prstDash val="solid"/>
          </a:ln>
        </p:spPr>
      </p:sp>
      <p:sp>
        <p:nvSpPr>
          <p:cNvPr id="20" name="Shape 18"/>
          <p:cNvSpPr/>
          <p:nvPr/>
        </p:nvSpPr>
        <p:spPr>
          <a:xfrm>
            <a:off x="7598664" y="2011680"/>
            <a:ext cx="502920" cy="502920"/>
          </a:xfrm>
          <a:prstGeom prst="ellipse">
            <a:avLst/>
          </a:prstGeom>
          <a:solidFill>
            <a:srgbClr val="0E7C7B"/>
          </a:solidFill>
          <a:ln w="12700">
            <a:solidFill>
              <a:srgbClr val="0E7C7B"/>
            </a:solidFill>
            <a:prstDash val="solid"/>
          </a:ln>
        </p:spPr>
      </p:sp>
      <p:sp>
        <p:nvSpPr>
          <p:cNvPr id="21" name="Text 19"/>
          <p:cNvSpPr txBox="1"/>
          <p:nvPr/>
        </p:nvSpPr>
        <p:spPr>
          <a:xfrm>
            <a:off x="7598664"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598664" y="2697480"/>
            <a:ext cx="1737360" cy="45720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A result</a:t>
            </a:r>
            <a:endParaRPr lang="en-US" sz="1800" dirty="0"/>
          </a:p>
        </p:txBody>
      </p:sp>
      <p:sp>
        <p:nvSpPr>
          <p:cNvPr id="23" name="Text 21"/>
          <p:cNvSpPr txBox="1"/>
          <p:nvPr/>
        </p:nvSpPr>
        <p:spPr>
          <a:xfrm>
            <a:off x="7598664" y="3200400"/>
            <a:ext cx="1737360" cy="201168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Federated recovers the planted signal and beats every local-only model. Blog post.</a:t>
            </a:r>
            <a:endParaRPr lang="en-US" sz="1350" dirty="0"/>
          </a:p>
        </p:txBody>
      </p:sp>
      <p:sp>
        <p:nvSpPr>
          <p:cNvPr id="24" name="Shape 22"/>
          <p:cNvSpPr/>
          <p:nvPr/>
        </p:nvSpPr>
        <p:spPr>
          <a:xfrm>
            <a:off x="9674352" y="1783080"/>
            <a:ext cx="2103120" cy="3566160"/>
          </a:xfrm>
          <a:prstGeom prst="roundRect">
            <a:avLst>
              <a:gd name="adj" fmla="val 4348"/>
            </a:avLst>
          </a:prstGeom>
          <a:solidFill>
            <a:srgbClr val="FCEBD2"/>
          </a:solidFill>
          <a:ln w="12700">
            <a:solidFill>
              <a:srgbClr val="FCEBD2"/>
            </a:solidFill>
            <a:prstDash val="solid"/>
          </a:ln>
        </p:spPr>
      </p:sp>
      <p:sp>
        <p:nvSpPr>
          <p:cNvPr id="25" name="Shape 23"/>
          <p:cNvSpPr/>
          <p:nvPr/>
        </p:nvSpPr>
        <p:spPr>
          <a:xfrm>
            <a:off x="9902952" y="2011680"/>
            <a:ext cx="502920" cy="502920"/>
          </a:xfrm>
          <a:prstGeom prst="ellipse">
            <a:avLst/>
          </a:prstGeom>
          <a:solidFill>
            <a:srgbClr val="C9821F"/>
          </a:solidFill>
          <a:ln w="12700">
            <a:solidFill>
              <a:srgbClr val="C9821F"/>
            </a:solidFill>
            <a:prstDash val="solid"/>
          </a:ln>
        </p:spPr>
      </p:sp>
      <p:sp>
        <p:nvSpPr>
          <p:cNvPr id="26" name="Text 24"/>
          <p:cNvSpPr txBox="1"/>
          <p:nvPr/>
        </p:nvSpPr>
        <p:spPr>
          <a:xfrm>
            <a:off x="9902952" y="20116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9902952" y="2697480"/>
            <a:ext cx="1737360" cy="45720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Gap report</a:t>
            </a:r>
            <a:endParaRPr lang="en-US" sz="1800" dirty="0"/>
          </a:p>
        </p:txBody>
      </p:sp>
      <p:sp>
        <p:nvSpPr>
          <p:cNvPr id="28" name="Text 26"/>
          <p:cNvSpPr txBox="1"/>
          <p:nvPr/>
        </p:nvSpPr>
        <p:spPr>
          <a:xfrm>
            <a:off x="9902952" y="3200400"/>
            <a:ext cx="1737360" cy="2011680"/>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Every place the APIs got in the way, logged as we go, compiled for the work streams.</a:t>
            </a:r>
            <a:endParaRPr lang="en-US" sz="1350" dirty="0"/>
          </a:p>
        </p:txBody>
      </p:sp>
      <p:sp>
        <p:nvSpPr>
          <p:cNvPr id="29" name="Text 27"/>
          <p:cNvSpPr txBox="1"/>
          <p:nvPr/>
        </p:nvSpPr>
        <p:spPr>
          <a:xfrm>
            <a:off x="457200" y="5669280"/>
            <a:ext cx="11277295" cy="457200"/>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Implementations: whichever is most viable per API today. We are not tied to the Starter Kit (much of it unmaintained since 2022).</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600" b="1" dirty="0">
                <a:solidFill>
                  <a:srgbClr val="1F2933"/>
                </a:solidFill>
                <a:latin typeface="Cambria" pitchFamily="34" charset="0"/>
                <a:ea typeface="Cambria" pitchFamily="34" charset="-122"/>
                <a:cs typeface="Cambria" pitchFamily="34" charset="-120"/>
              </a:rPr>
              <a:t>Experiment 1 architecture: federated training over GA4GH APIs</a:t>
            </a:r>
            <a:endParaRPr lang="en-US" sz="2600" dirty="0"/>
          </a:p>
        </p:txBody>
      </p:sp>
      <p:sp>
        <p:nvSpPr>
          <p:cNvPr id="3" name="Text 1"/>
          <p:cNvSpPr txBox="1"/>
          <p:nvPr/>
        </p:nvSpPr>
        <p:spPr>
          <a:xfrm>
            <a:off x="457200" y="804672"/>
            <a:ext cx="11247120" cy="365760"/>
          </a:xfrm>
          <a:prstGeom prst="rect">
            <a:avLst/>
          </a:prstGeom>
          <a:noFill/>
          <a:ln/>
        </p:spPr>
        <p:txBody>
          <a:bodyPr wrap="square" lIns="0" tIns="0" rIns="0" bIns="0" rtlCol="0" anchor="ctr"/>
          <a:lstStyle/>
          <a:p>
            <a:pPr indent="0" marL="0">
              <a:buNone/>
            </a:pPr>
            <a:r>
              <a:rPr lang="en-US" sz="1300" dirty="0">
                <a:solidFill>
                  <a:srgbClr val="5B6770"/>
                </a:solidFill>
                <a:latin typeface="Calibri" pitchFamily="34" charset="0"/>
                <a:ea typeface="Calibri" pitchFamily="34" charset="-122"/>
                <a:cs typeface="Calibri" pitchFamily="34" charset="-120"/>
              </a:rPr>
              <a:t>One coordinator, N driver sites each running the same node-in-a-box. Raw data never leaves a site; only DP-noised weights move, and every hop is a GA4GH API call.</a:t>
            </a:r>
            <a:endParaRPr lang="en-US" sz="1300" dirty="0"/>
          </a:p>
        </p:txBody>
      </p:sp>
      <p:sp>
        <p:nvSpPr>
          <p:cNvPr id="4" name="Shape 2"/>
          <p:cNvSpPr/>
          <p:nvPr/>
        </p:nvSpPr>
        <p:spPr>
          <a:xfrm>
            <a:off x="457200" y="1371600"/>
            <a:ext cx="3931920" cy="3246120"/>
          </a:xfrm>
          <a:prstGeom prst="roundRect">
            <a:avLst>
              <a:gd name="adj" fmla="val 3380"/>
            </a:avLst>
          </a:prstGeom>
          <a:solidFill>
            <a:srgbClr val="17303A"/>
          </a:solidFill>
          <a:ln w="12700">
            <a:solidFill>
              <a:srgbClr val="17303A"/>
            </a:solidFill>
            <a:prstDash val="solid"/>
          </a:ln>
        </p:spPr>
      </p:sp>
      <p:sp>
        <p:nvSpPr>
          <p:cNvPr id="5" name="Text 3"/>
          <p:cNvSpPr txBox="1"/>
          <p:nvPr/>
        </p:nvSpPr>
        <p:spPr>
          <a:xfrm>
            <a:off x="640080" y="1444752"/>
            <a:ext cx="3566160" cy="365760"/>
          </a:xfrm>
          <a:prstGeom prst="rect">
            <a:avLst/>
          </a:prstGeom>
          <a:noFill/>
          <a:ln/>
        </p:spPr>
        <p:txBody>
          <a:bodyPr wrap="square" lIns="635" tIns="635" rIns="635" bIns="635"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Coordinator</a:t>
            </a:r>
            <a:endParaRPr lang="en-US" sz="1600" dirty="0"/>
          </a:p>
        </p:txBody>
      </p:sp>
      <p:sp>
        <p:nvSpPr>
          <p:cNvPr id="6" name="Shape 4"/>
          <p:cNvSpPr/>
          <p:nvPr/>
        </p:nvSpPr>
        <p:spPr>
          <a:xfrm>
            <a:off x="640080" y="1874520"/>
            <a:ext cx="3566160" cy="731520"/>
          </a:xfrm>
          <a:prstGeom prst="roundRect">
            <a:avLst>
              <a:gd name="adj" fmla="val 10000"/>
            </a:avLst>
          </a:prstGeom>
          <a:solidFill>
            <a:srgbClr val="24495A"/>
          </a:solidFill>
          <a:ln w="12700">
            <a:solidFill>
              <a:srgbClr val="24495A"/>
            </a:solidFill>
            <a:prstDash val="solid"/>
          </a:ln>
        </p:spPr>
      </p:sp>
      <p:sp>
        <p:nvSpPr>
          <p:cNvPr id="7" name="Text 5"/>
          <p:cNvSpPr txBox="1"/>
          <p:nvPr/>
        </p:nvSpPr>
        <p:spPr>
          <a:xfrm>
            <a:off x="731520" y="1874520"/>
            <a:ext cx="3383280" cy="731520"/>
          </a:xfrm>
          <a:prstGeom prst="rect">
            <a:avLst/>
          </a:prstGeom>
          <a:noFill/>
          <a:ln/>
        </p:spPr>
        <p:txBody>
          <a:bodyPr wrap="square" lIns="635" tIns="635" rIns="635" bIns="635"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FL orchestrator</a:t>
            </a:r>
            <a:endParaRPr lang="en-US" sz="1200" dirty="0"/>
          </a:p>
          <a:p>
            <a:pPr indent="0" marL="0">
              <a:buNone/>
            </a:pPr>
            <a:r>
              <a:rPr lang="en-US" sz="1000" dirty="0">
                <a:solidFill>
                  <a:srgbClr val="C3D3DA"/>
                </a:solidFill>
                <a:latin typeface="Calibri" pitchFamily="34" charset="0"/>
                <a:ea typeface="Calibri" pitchFamily="34" charset="-122"/>
                <a:cs typeface="Calibri" pitchFamily="34" charset="-120"/>
              </a:rPr>
              <a:t>FedAvg strategy (plain Python / Flower / FLARE, TBD) with WES/TES and DRS clients</a:t>
            </a:r>
            <a:endParaRPr lang="en-US" sz="1200" dirty="0"/>
          </a:p>
        </p:txBody>
      </p:sp>
      <p:sp>
        <p:nvSpPr>
          <p:cNvPr id="8" name="Shape 6"/>
          <p:cNvSpPr/>
          <p:nvPr/>
        </p:nvSpPr>
        <p:spPr>
          <a:xfrm>
            <a:off x="640080" y="2715768"/>
            <a:ext cx="3566160" cy="530352"/>
          </a:xfrm>
          <a:prstGeom prst="roundRect">
            <a:avLst>
              <a:gd name="adj" fmla="val 13793"/>
            </a:avLst>
          </a:prstGeom>
          <a:solidFill>
            <a:srgbClr val="24495A"/>
          </a:solidFill>
          <a:ln w="12700">
            <a:solidFill>
              <a:srgbClr val="24495A"/>
            </a:solidFill>
            <a:prstDash val="solid"/>
          </a:ln>
        </p:spPr>
      </p:sp>
      <p:sp>
        <p:nvSpPr>
          <p:cNvPr id="9" name="Text 7"/>
          <p:cNvSpPr txBox="1"/>
          <p:nvPr/>
        </p:nvSpPr>
        <p:spPr>
          <a:xfrm>
            <a:off x="731520" y="2715768"/>
            <a:ext cx="3383280" cy="530352"/>
          </a:xfrm>
          <a:prstGeom prst="rect">
            <a:avLst/>
          </a:prstGeom>
          <a:noFill/>
          <a:ln/>
        </p:spPr>
        <p:txBody>
          <a:bodyPr wrap="square" lIns="635" tIns="635" rIns="635" bIns="635"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Coordinator DRS</a:t>
            </a:r>
            <a:endParaRPr lang="en-US" sz="1200" dirty="0"/>
          </a:p>
          <a:p>
            <a:pPr indent="0" marL="0">
              <a:buNone/>
            </a:pPr>
            <a:r>
              <a:rPr lang="en-US" sz="1000" dirty="0">
                <a:solidFill>
                  <a:srgbClr val="C3D3DA"/>
                </a:solidFill>
                <a:latin typeface="Calibri" pitchFamily="34" charset="0"/>
                <a:ea typeface="Calibri" pitchFamily="34" charset="-122"/>
                <a:cs typeface="Calibri" pitchFamily="34" charset="-120"/>
              </a:rPr>
              <a:t>Global model weights, registered each round</a:t>
            </a:r>
            <a:endParaRPr lang="en-US" sz="1200" dirty="0"/>
          </a:p>
        </p:txBody>
      </p:sp>
      <p:sp>
        <p:nvSpPr>
          <p:cNvPr id="10" name="Shape 8"/>
          <p:cNvSpPr/>
          <p:nvPr/>
        </p:nvSpPr>
        <p:spPr>
          <a:xfrm>
            <a:off x="640080" y="3355848"/>
            <a:ext cx="3566160" cy="530352"/>
          </a:xfrm>
          <a:prstGeom prst="roundRect">
            <a:avLst>
              <a:gd name="adj" fmla="val 13793"/>
            </a:avLst>
          </a:prstGeom>
          <a:solidFill>
            <a:srgbClr val="24495A"/>
          </a:solidFill>
          <a:ln w="12700">
            <a:solidFill>
              <a:srgbClr val="24495A"/>
            </a:solidFill>
            <a:prstDash val="solid"/>
          </a:ln>
        </p:spPr>
      </p:sp>
      <p:sp>
        <p:nvSpPr>
          <p:cNvPr id="11" name="Text 9"/>
          <p:cNvSpPr txBox="1"/>
          <p:nvPr/>
        </p:nvSpPr>
        <p:spPr>
          <a:xfrm>
            <a:off x="731520" y="3355848"/>
            <a:ext cx="3383280" cy="530352"/>
          </a:xfrm>
          <a:prstGeom prst="rect">
            <a:avLst/>
          </a:prstGeom>
          <a:noFill/>
          <a:ln/>
        </p:spPr>
        <p:txBody>
          <a:bodyPr wrap="square" lIns="635" tIns="635" rIns="635" bIns="635"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Evaluation</a:t>
            </a:r>
            <a:endParaRPr lang="en-US" sz="1200" dirty="0"/>
          </a:p>
          <a:p>
            <a:pPr indent="0" marL="0">
              <a:buNone/>
            </a:pPr>
            <a:r>
              <a:rPr lang="en-US" sz="1000" dirty="0">
                <a:solidFill>
                  <a:srgbClr val="C3D3DA"/>
                </a:solidFill>
                <a:latin typeface="Calibri" pitchFamily="34" charset="0"/>
                <a:ea typeface="Calibri" pitchFamily="34" charset="-122"/>
                <a:cs typeface="Calibri" pitchFamily="34" charset="-120"/>
              </a:rPr>
              <a:t>Federated vs. local-only on a held-out set</a:t>
            </a:r>
            <a:endParaRPr lang="en-US" sz="1200" dirty="0"/>
          </a:p>
        </p:txBody>
      </p:sp>
      <p:sp>
        <p:nvSpPr>
          <p:cNvPr id="12" name="Shape 10"/>
          <p:cNvSpPr/>
          <p:nvPr/>
        </p:nvSpPr>
        <p:spPr>
          <a:xfrm>
            <a:off x="640080" y="3995928"/>
            <a:ext cx="3566160" cy="502920"/>
          </a:xfrm>
          <a:prstGeom prst="roundRect">
            <a:avLst>
              <a:gd name="adj" fmla="val 14545"/>
            </a:avLst>
          </a:prstGeom>
          <a:solidFill>
            <a:srgbClr val="17303A"/>
          </a:solidFill>
          <a:ln w="12700">
            <a:solidFill>
              <a:srgbClr val="8FA7B3"/>
            </a:solidFill>
            <a:prstDash val="dash"/>
          </a:ln>
        </p:spPr>
      </p:sp>
      <p:sp>
        <p:nvSpPr>
          <p:cNvPr id="13" name="Text 11"/>
          <p:cNvSpPr txBox="1"/>
          <p:nvPr/>
        </p:nvSpPr>
        <p:spPr>
          <a:xfrm>
            <a:off x="731520" y="3995928"/>
            <a:ext cx="3383280" cy="502920"/>
          </a:xfrm>
          <a:prstGeom prst="rect">
            <a:avLst/>
          </a:prstGeom>
          <a:noFill/>
          <a:ln/>
        </p:spPr>
        <p:txBody>
          <a:bodyPr wrap="square" lIns="635" tIns="635" rIns="635" bIns="635"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Dockstore / TRS  (later)</a:t>
            </a:r>
            <a:endParaRPr lang="en-US" sz="1200" dirty="0"/>
          </a:p>
          <a:p>
            <a:pPr indent="0" marL="0">
              <a:buNone/>
            </a:pPr>
            <a:r>
              <a:rPr lang="en-US" sz="1000" dirty="0">
                <a:solidFill>
                  <a:srgbClr val="C3D3DA"/>
                </a:solidFill>
                <a:latin typeface="Calibri" pitchFamily="34" charset="0"/>
                <a:ea typeface="Calibri" pitchFamily="34" charset="-122"/>
                <a:cs typeface="Calibri" pitchFamily="34" charset="-120"/>
              </a:rPr>
              <a:t>Versioned training workflow and container</a:t>
            </a:r>
            <a:endParaRPr lang="en-US" sz="1200" dirty="0"/>
          </a:p>
        </p:txBody>
      </p:sp>
      <p:sp>
        <p:nvSpPr>
          <p:cNvPr id="14" name="Shape 12"/>
          <p:cNvSpPr/>
          <p:nvPr/>
        </p:nvSpPr>
        <p:spPr>
          <a:xfrm>
            <a:off x="7534656" y="1591056"/>
            <a:ext cx="4206240" cy="3246120"/>
          </a:xfrm>
          <a:prstGeom prst="roundRect">
            <a:avLst>
              <a:gd name="adj" fmla="val 3380"/>
            </a:avLst>
          </a:prstGeom>
          <a:solidFill>
            <a:srgbClr val="C4E3E1"/>
          </a:solidFill>
          <a:ln w="12700">
            <a:solidFill>
              <a:srgbClr val="0E7C7B"/>
            </a:solidFill>
            <a:prstDash val="solid"/>
          </a:ln>
        </p:spPr>
      </p:sp>
      <p:sp>
        <p:nvSpPr>
          <p:cNvPr id="15" name="Shape 13"/>
          <p:cNvSpPr/>
          <p:nvPr/>
        </p:nvSpPr>
        <p:spPr>
          <a:xfrm>
            <a:off x="7424928" y="1481328"/>
            <a:ext cx="4206240" cy="3246120"/>
          </a:xfrm>
          <a:prstGeom prst="roundRect">
            <a:avLst>
              <a:gd name="adj" fmla="val 3380"/>
            </a:avLst>
          </a:prstGeom>
          <a:solidFill>
            <a:srgbClr val="D0E9E7"/>
          </a:solidFill>
          <a:ln w="12700">
            <a:solidFill>
              <a:srgbClr val="0E7C7B"/>
            </a:solidFill>
            <a:prstDash val="solid"/>
          </a:ln>
        </p:spPr>
      </p:sp>
      <p:sp>
        <p:nvSpPr>
          <p:cNvPr id="16" name="Shape 14"/>
          <p:cNvSpPr/>
          <p:nvPr/>
        </p:nvSpPr>
        <p:spPr>
          <a:xfrm>
            <a:off x="7315200" y="1371600"/>
            <a:ext cx="4206240" cy="3246120"/>
          </a:xfrm>
          <a:prstGeom prst="roundRect">
            <a:avLst>
              <a:gd name="adj" fmla="val 3380"/>
            </a:avLst>
          </a:prstGeom>
          <a:solidFill>
            <a:srgbClr val="DDF1F0"/>
          </a:solidFill>
          <a:ln w="19050">
            <a:solidFill>
              <a:srgbClr val="0E7C7B"/>
            </a:solidFill>
            <a:prstDash val="solid"/>
          </a:ln>
        </p:spPr>
      </p:sp>
      <p:sp>
        <p:nvSpPr>
          <p:cNvPr id="17" name="Text 15"/>
          <p:cNvSpPr txBox="1"/>
          <p:nvPr/>
        </p:nvSpPr>
        <p:spPr>
          <a:xfrm>
            <a:off x="7498080" y="1444752"/>
            <a:ext cx="3840480" cy="365760"/>
          </a:xfrm>
          <a:prstGeom prst="rect">
            <a:avLst/>
          </a:prstGeom>
          <a:noFill/>
          <a:ln/>
        </p:spPr>
        <p:txBody>
          <a:bodyPr wrap="square" lIns="635" tIns="635" rIns="635" bIns="635" rtlCol="0" anchor="ctr"/>
          <a:lstStyle/>
          <a:p>
            <a:pPr indent="0" marL="0">
              <a:buNone/>
            </a:pPr>
            <a:r>
              <a:rPr lang="en-US" sz="1600" b="1" dirty="0">
                <a:solidFill>
                  <a:srgbClr val="0A5857"/>
                </a:solidFill>
                <a:latin typeface="Cambria" pitchFamily="34" charset="0"/>
                <a:ea typeface="Cambria" pitchFamily="34" charset="-122"/>
                <a:cs typeface="Cambria" pitchFamily="34" charset="-120"/>
              </a:rPr>
              <a:t>Driver site: node-in-a-box</a:t>
            </a:r>
            <a:endParaRPr lang="en-US" sz="1600" dirty="0"/>
          </a:p>
        </p:txBody>
      </p:sp>
      <p:sp>
        <p:nvSpPr>
          <p:cNvPr id="18" name="Shape 16"/>
          <p:cNvSpPr/>
          <p:nvPr/>
        </p:nvSpPr>
        <p:spPr>
          <a:xfrm>
            <a:off x="7498080" y="1874520"/>
            <a:ext cx="3840480" cy="530352"/>
          </a:xfrm>
          <a:prstGeom prst="roundRect">
            <a:avLst>
              <a:gd name="adj" fmla="val 13793"/>
            </a:avLst>
          </a:prstGeom>
          <a:solidFill>
            <a:srgbClr val="FFFFFF"/>
          </a:solidFill>
          <a:ln w="12700">
            <a:solidFill>
              <a:srgbClr val="0E7C7B"/>
            </a:solidFill>
            <a:prstDash val="solid"/>
          </a:ln>
        </p:spPr>
      </p:sp>
      <p:sp>
        <p:nvSpPr>
          <p:cNvPr id="19" name="Text 17"/>
          <p:cNvSpPr txBox="1"/>
          <p:nvPr/>
        </p:nvSpPr>
        <p:spPr>
          <a:xfrm>
            <a:off x="7589520" y="1874520"/>
            <a:ext cx="2103120" cy="530352"/>
          </a:xfrm>
          <a:prstGeom prst="rect">
            <a:avLst/>
          </a:prstGeom>
          <a:noFill/>
          <a:ln/>
        </p:spPr>
        <p:txBody>
          <a:bodyPr wrap="square" lIns="635" tIns="635" rIns="635" bIns="635"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WES / TES endpoint</a:t>
            </a:r>
            <a:endParaRPr lang="en-US" sz="1200" dirty="0"/>
          </a:p>
          <a:p>
            <a:pPr indent="0" marL="0">
              <a:buNone/>
            </a:pPr>
            <a:r>
              <a:rPr lang="en-US" sz="1000" dirty="0">
                <a:solidFill>
                  <a:srgbClr val="5B6770"/>
                </a:solidFill>
                <a:latin typeface="Calibri" pitchFamily="34" charset="0"/>
                <a:ea typeface="Calibri" pitchFamily="34" charset="-122"/>
                <a:cs typeface="Calibri" pitchFamily="34" charset="-120"/>
              </a:rPr>
              <a:t>Receives one task per round</a:t>
            </a:r>
            <a:endParaRPr lang="en-US" sz="1200" dirty="0"/>
          </a:p>
        </p:txBody>
      </p:sp>
      <p:sp>
        <p:nvSpPr>
          <p:cNvPr id="20" name="Shape 18"/>
          <p:cNvSpPr/>
          <p:nvPr/>
        </p:nvSpPr>
        <p:spPr>
          <a:xfrm>
            <a:off x="9692640" y="2002536"/>
            <a:ext cx="1572768" cy="274320"/>
          </a:xfrm>
          <a:prstGeom prst="roundRect">
            <a:avLst>
              <a:gd name="adj" fmla="val 26667"/>
            </a:avLst>
          </a:prstGeom>
          <a:solidFill>
            <a:srgbClr val="FCEBD2"/>
          </a:solidFill>
          <a:ln w="12700">
            <a:solidFill>
              <a:srgbClr val="C9821F"/>
            </a:solidFill>
            <a:prstDash val="solid"/>
          </a:ln>
        </p:spPr>
      </p:sp>
      <p:sp>
        <p:nvSpPr>
          <p:cNvPr id="21" name="Text 19"/>
          <p:cNvSpPr txBox="1"/>
          <p:nvPr/>
        </p:nvSpPr>
        <p:spPr>
          <a:xfrm>
            <a:off x="9692640" y="2002536"/>
            <a:ext cx="1572768" cy="274320"/>
          </a:xfrm>
          <a:prstGeom prst="rect">
            <a:avLst/>
          </a:prstGeom>
          <a:noFill/>
          <a:ln/>
        </p:spPr>
        <p:txBody>
          <a:bodyPr wrap="square" lIns="0" tIns="0" rIns="0" bIns="0" rtlCol="0" anchor="ctr"/>
          <a:lstStyle/>
          <a:p>
            <a:pPr algn="ctr" indent="0" marL="0">
              <a:buNone/>
            </a:pPr>
            <a:r>
              <a:rPr lang="en-US" sz="950" b="1" dirty="0">
                <a:solidFill>
                  <a:srgbClr val="7A4A0B"/>
                </a:solidFill>
                <a:latin typeface="Calibri" pitchFamily="34" charset="0"/>
                <a:ea typeface="Calibri" pitchFamily="34" charset="-122"/>
                <a:cs typeface="Calibri" pitchFamily="34" charset="-120"/>
              </a:rPr>
              <a:t>ML caps in service-info?</a:t>
            </a:r>
            <a:endParaRPr lang="en-US" sz="950" dirty="0"/>
          </a:p>
        </p:txBody>
      </p:sp>
      <p:sp>
        <p:nvSpPr>
          <p:cNvPr id="22" name="Shape 20"/>
          <p:cNvSpPr/>
          <p:nvPr/>
        </p:nvSpPr>
        <p:spPr>
          <a:xfrm>
            <a:off x="7498080" y="2514600"/>
            <a:ext cx="3840480" cy="658368"/>
          </a:xfrm>
          <a:prstGeom prst="roundRect">
            <a:avLst>
              <a:gd name="adj" fmla="val 11111"/>
            </a:avLst>
          </a:prstGeom>
          <a:solidFill>
            <a:srgbClr val="FFFFFF"/>
          </a:solidFill>
          <a:ln w="12700">
            <a:solidFill>
              <a:srgbClr val="0E7C7B"/>
            </a:solidFill>
            <a:prstDash val="solid"/>
          </a:ln>
        </p:spPr>
      </p:sp>
      <p:sp>
        <p:nvSpPr>
          <p:cNvPr id="23" name="Text 21"/>
          <p:cNvSpPr txBox="1"/>
          <p:nvPr/>
        </p:nvSpPr>
        <p:spPr>
          <a:xfrm>
            <a:off x="7589520" y="2514600"/>
            <a:ext cx="3611880" cy="658368"/>
          </a:xfrm>
          <a:prstGeom prst="rect">
            <a:avLst/>
          </a:prstGeom>
          <a:noFill/>
          <a:ln/>
        </p:spPr>
        <p:txBody>
          <a:bodyPr wrap="square" lIns="635" tIns="635" rIns="635" bIns="635"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③ Training job</a:t>
            </a:r>
            <a:endParaRPr lang="en-US" sz="1200" dirty="0"/>
          </a:p>
          <a:p>
            <a:pPr indent="0" marL="0">
              <a:buNone/>
            </a:pPr>
            <a:r>
              <a:rPr lang="en-US" sz="1000" dirty="0">
                <a:solidFill>
                  <a:srgbClr val="5B6770"/>
                </a:solidFill>
                <a:latin typeface="Calibri" pitchFamily="34" charset="0"/>
                <a:ea typeface="Calibri" pitchFamily="34" charset="-122"/>
                <a:cs typeface="Calibri" pitchFamily="34" charset="-120"/>
              </a:rPr>
              <a:t>PyTorch + Opacus DP-SGD, one container per round</a:t>
            </a:r>
            <a:endParaRPr lang="en-US" sz="1200" dirty="0"/>
          </a:p>
        </p:txBody>
      </p:sp>
      <p:sp>
        <p:nvSpPr>
          <p:cNvPr id="24" name="Shape 22"/>
          <p:cNvSpPr/>
          <p:nvPr/>
        </p:nvSpPr>
        <p:spPr>
          <a:xfrm>
            <a:off x="7498080" y="3282696"/>
            <a:ext cx="3840480" cy="566928"/>
          </a:xfrm>
          <a:prstGeom prst="roundRect">
            <a:avLst>
              <a:gd name="adj" fmla="val 12903"/>
            </a:avLst>
          </a:prstGeom>
          <a:solidFill>
            <a:srgbClr val="FFFFFF"/>
          </a:solidFill>
          <a:ln w="12700">
            <a:solidFill>
              <a:srgbClr val="0E7C7B"/>
            </a:solidFill>
            <a:prstDash val="solid"/>
          </a:ln>
        </p:spPr>
      </p:sp>
      <p:sp>
        <p:nvSpPr>
          <p:cNvPr id="25" name="Text 23"/>
          <p:cNvSpPr txBox="1"/>
          <p:nvPr/>
        </p:nvSpPr>
        <p:spPr>
          <a:xfrm>
            <a:off x="7589520" y="3282696"/>
            <a:ext cx="2103120" cy="566928"/>
          </a:xfrm>
          <a:prstGeom prst="rect">
            <a:avLst/>
          </a:prstGeom>
          <a:noFill/>
          <a:ln/>
        </p:spPr>
        <p:txBody>
          <a:bodyPr wrap="square" lIns="635" tIns="635" rIns="635" bIns="635"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DRS + object store</a:t>
            </a:r>
            <a:endParaRPr lang="en-US" sz="1200" dirty="0"/>
          </a:p>
          <a:p>
            <a:pPr indent="0" marL="0">
              <a:buNone/>
            </a:pPr>
            <a:r>
              <a:rPr lang="en-US" sz="1000" dirty="0">
                <a:solidFill>
                  <a:srgbClr val="5B6770"/>
                </a:solidFill>
                <a:latin typeface="Calibri" pitchFamily="34" charset="0"/>
                <a:ea typeface="Calibri" pitchFamily="34" charset="-122"/>
                <a:cs typeface="Calibri" pitchFamily="34" charset="-120"/>
              </a:rPr>
              <a:t>Local partition in; updated weights out</a:t>
            </a:r>
            <a:endParaRPr lang="en-US" sz="1200" dirty="0"/>
          </a:p>
        </p:txBody>
      </p:sp>
      <p:sp>
        <p:nvSpPr>
          <p:cNvPr id="26" name="Shape 24"/>
          <p:cNvSpPr/>
          <p:nvPr/>
        </p:nvSpPr>
        <p:spPr>
          <a:xfrm>
            <a:off x="9692640" y="3429000"/>
            <a:ext cx="1572768" cy="274320"/>
          </a:xfrm>
          <a:prstGeom prst="roundRect">
            <a:avLst>
              <a:gd name="adj" fmla="val 26667"/>
            </a:avLst>
          </a:prstGeom>
          <a:solidFill>
            <a:srgbClr val="FCEBD2"/>
          </a:solidFill>
          <a:ln w="12700">
            <a:solidFill>
              <a:srgbClr val="C9821F"/>
            </a:solidFill>
            <a:prstDash val="solid"/>
          </a:ln>
        </p:spPr>
      </p:sp>
      <p:sp>
        <p:nvSpPr>
          <p:cNvPr id="27" name="Text 25"/>
          <p:cNvSpPr txBox="1"/>
          <p:nvPr/>
        </p:nvSpPr>
        <p:spPr>
          <a:xfrm>
            <a:off x="9692640" y="3429000"/>
            <a:ext cx="1572768" cy="274320"/>
          </a:xfrm>
          <a:prstGeom prst="rect">
            <a:avLst/>
          </a:prstGeom>
          <a:noFill/>
          <a:ln/>
        </p:spPr>
        <p:txBody>
          <a:bodyPr wrap="square" lIns="0" tIns="0" rIns="0" bIns="0" rtlCol="0" anchor="ctr"/>
          <a:lstStyle/>
          <a:p>
            <a:pPr algn="ctr" indent="0" marL="0">
              <a:buNone/>
            </a:pPr>
            <a:r>
              <a:rPr lang="en-US" sz="950" b="1" dirty="0">
                <a:solidFill>
                  <a:srgbClr val="7A4A0B"/>
                </a:solidFill>
                <a:latin typeface="Calibri" pitchFamily="34" charset="0"/>
                <a:ea typeface="Calibri" pitchFamily="34" charset="-122"/>
                <a:cs typeface="Calibri" pitchFamily="34" charset="-120"/>
              </a:rPr>
              <a:t>DRS write-back?</a:t>
            </a:r>
            <a:endParaRPr lang="en-US" sz="950" dirty="0"/>
          </a:p>
        </p:txBody>
      </p:sp>
      <p:sp>
        <p:nvSpPr>
          <p:cNvPr id="28" name="Shape 26"/>
          <p:cNvSpPr/>
          <p:nvPr/>
        </p:nvSpPr>
        <p:spPr>
          <a:xfrm>
            <a:off x="7498080" y="3959352"/>
            <a:ext cx="3840480" cy="530352"/>
          </a:xfrm>
          <a:prstGeom prst="roundRect">
            <a:avLst>
              <a:gd name="adj" fmla="val 13793"/>
            </a:avLst>
          </a:prstGeom>
          <a:solidFill>
            <a:srgbClr val="FFFFFF"/>
          </a:solidFill>
          <a:ln w="12700">
            <a:solidFill>
              <a:srgbClr val="0E7C7B"/>
            </a:solidFill>
            <a:prstDash val="solid"/>
          </a:ln>
        </p:spPr>
      </p:sp>
      <p:sp>
        <p:nvSpPr>
          <p:cNvPr id="29" name="Text 27"/>
          <p:cNvSpPr txBox="1"/>
          <p:nvPr/>
        </p:nvSpPr>
        <p:spPr>
          <a:xfrm>
            <a:off x="7589520" y="3959352"/>
            <a:ext cx="2103120" cy="530352"/>
          </a:xfrm>
          <a:prstGeom prst="rect">
            <a:avLst/>
          </a:prstGeom>
          <a:noFill/>
          <a:ln/>
        </p:spPr>
        <p:txBody>
          <a:bodyPr wrap="square" lIns="635" tIns="635" rIns="635" bIns="635"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Auth</a:t>
            </a:r>
            <a:endParaRPr lang="en-US" sz="1200" dirty="0"/>
          </a:p>
          <a:p>
            <a:pPr indent="0" marL="0">
              <a:buNone/>
            </a:pPr>
            <a:r>
              <a:rPr lang="en-US" sz="1000" dirty="0">
                <a:solidFill>
                  <a:srgbClr val="5B6770"/>
                </a:solidFill>
                <a:latin typeface="Calibri" pitchFamily="34" charset="0"/>
                <a:ea typeface="Calibri" pitchFamily="34" charset="-122"/>
                <a:cs typeface="Calibri" pitchFamily="34" charset="-120"/>
              </a:rPr>
              <a:t>Static bearer token now, Passports later</a:t>
            </a:r>
            <a:endParaRPr lang="en-US" sz="1200" dirty="0"/>
          </a:p>
        </p:txBody>
      </p:sp>
      <p:sp>
        <p:nvSpPr>
          <p:cNvPr id="30" name="Shape 28"/>
          <p:cNvSpPr/>
          <p:nvPr/>
        </p:nvSpPr>
        <p:spPr>
          <a:xfrm>
            <a:off x="9692640" y="4087368"/>
            <a:ext cx="1572768" cy="274320"/>
          </a:xfrm>
          <a:prstGeom prst="roundRect">
            <a:avLst>
              <a:gd name="adj" fmla="val 26667"/>
            </a:avLst>
          </a:prstGeom>
          <a:solidFill>
            <a:srgbClr val="FCEBD2"/>
          </a:solidFill>
          <a:ln w="12700">
            <a:solidFill>
              <a:srgbClr val="C9821F"/>
            </a:solidFill>
            <a:prstDash val="solid"/>
          </a:ln>
        </p:spPr>
      </p:sp>
      <p:sp>
        <p:nvSpPr>
          <p:cNvPr id="31" name="Text 29"/>
          <p:cNvSpPr txBox="1"/>
          <p:nvPr/>
        </p:nvSpPr>
        <p:spPr>
          <a:xfrm>
            <a:off x="9692640" y="4087368"/>
            <a:ext cx="1572768" cy="274320"/>
          </a:xfrm>
          <a:prstGeom prst="rect">
            <a:avLst/>
          </a:prstGeom>
          <a:noFill/>
          <a:ln/>
        </p:spPr>
        <p:txBody>
          <a:bodyPr wrap="square" lIns="0" tIns="0" rIns="0" bIns="0" rtlCol="0" anchor="ctr"/>
          <a:lstStyle/>
          <a:p>
            <a:pPr algn="ctr" indent="0" marL="0">
              <a:buNone/>
            </a:pPr>
            <a:r>
              <a:rPr lang="en-US" sz="950" b="1" dirty="0">
                <a:solidFill>
                  <a:srgbClr val="7A4A0B"/>
                </a:solidFill>
                <a:latin typeface="Calibri" pitchFamily="34" charset="0"/>
                <a:ea typeface="Calibri" pitchFamily="34" charset="-122"/>
                <a:cs typeface="Calibri" pitchFamily="34" charset="-120"/>
              </a:rPr>
              <a:t>M2M delegation?</a:t>
            </a:r>
            <a:endParaRPr lang="en-US" sz="950" dirty="0"/>
          </a:p>
        </p:txBody>
      </p:sp>
      <p:sp>
        <p:nvSpPr>
          <p:cNvPr id="32" name="Text 30"/>
          <p:cNvSpPr txBox="1"/>
          <p:nvPr/>
        </p:nvSpPr>
        <p:spPr>
          <a:xfrm>
            <a:off x="9052560" y="4864608"/>
            <a:ext cx="2697480" cy="274320"/>
          </a:xfrm>
          <a:prstGeom prst="rect">
            <a:avLst/>
          </a:prstGeom>
          <a:noFill/>
          <a:ln/>
        </p:spPr>
        <p:txBody>
          <a:bodyPr wrap="square" lIns="0" tIns="0" rIns="0" bIns="0" rtlCol="0" anchor="ctr"/>
          <a:lstStyle/>
          <a:p>
            <a:pPr algn="r" indent="0" marL="0">
              <a:buNone/>
            </a:pPr>
            <a:r>
              <a:rPr lang="en-US" sz="1050" i="1" dirty="0">
                <a:solidFill>
                  <a:srgbClr val="0A5857"/>
                </a:solidFill>
                <a:latin typeface="Calibri" pitchFamily="34" charset="0"/>
                <a:ea typeface="Calibri" pitchFamily="34" charset="-122"/>
                <a:cs typeface="Calibri" pitchFamily="34" charset="-120"/>
              </a:rPr>
              <a:t>× N sites, same box, own partition</a:t>
            </a:r>
            <a:endParaRPr lang="en-US" sz="1050" dirty="0"/>
          </a:p>
        </p:txBody>
      </p:sp>
      <p:sp>
        <p:nvSpPr>
          <p:cNvPr id="33" name="Shape 31"/>
          <p:cNvSpPr/>
          <p:nvPr/>
        </p:nvSpPr>
        <p:spPr>
          <a:xfrm>
            <a:off x="4663440" y="1371600"/>
            <a:ext cx="2377440" cy="274320"/>
          </a:xfrm>
          <a:prstGeom prst="roundRect">
            <a:avLst>
              <a:gd name="adj" fmla="val 26667"/>
            </a:avLst>
          </a:prstGeom>
          <a:solidFill>
            <a:srgbClr val="FCEBD2"/>
          </a:solidFill>
          <a:ln w="12700">
            <a:solidFill>
              <a:srgbClr val="C9821F"/>
            </a:solidFill>
            <a:prstDash val="solid"/>
          </a:ln>
        </p:spPr>
      </p:sp>
      <p:sp>
        <p:nvSpPr>
          <p:cNvPr id="34" name="Text 32"/>
          <p:cNvSpPr txBox="1"/>
          <p:nvPr/>
        </p:nvSpPr>
        <p:spPr>
          <a:xfrm>
            <a:off x="4663440" y="1371600"/>
            <a:ext cx="2377440" cy="274320"/>
          </a:xfrm>
          <a:prstGeom prst="rect">
            <a:avLst/>
          </a:prstGeom>
          <a:noFill/>
          <a:ln/>
        </p:spPr>
        <p:txBody>
          <a:bodyPr wrap="square" lIns="0" tIns="0" rIns="0" bIns="0" rtlCol="0" anchor="ctr"/>
          <a:lstStyle/>
          <a:p>
            <a:pPr algn="ctr" indent="0" marL="0">
              <a:buNone/>
            </a:pPr>
            <a:r>
              <a:rPr lang="en-US" sz="950" b="1" dirty="0">
                <a:solidFill>
                  <a:srgbClr val="7A4A0B"/>
                </a:solidFill>
                <a:latin typeface="Calibri" pitchFamily="34" charset="0"/>
                <a:ea typeface="Calibri" pitchFamily="34" charset="-122"/>
                <a:cs typeface="Calibri" pitchFamily="34" charset="-120"/>
              </a:rPr>
              <a:t>Sites must accept inbound calls?</a:t>
            </a:r>
            <a:endParaRPr lang="en-US" sz="950" dirty="0"/>
          </a:p>
        </p:txBody>
      </p:sp>
      <p:sp>
        <p:nvSpPr>
          <p:cNvPr id="35" name="Shape 33"/>
          <p:cNvSpPr/>
          <p:nvPr/>
        </p:nvSpPr>
        <p:spPr>
          <a:xfrm>
            <a:off x="4480560" y="2331720"/>
            <a:ext cx="2743200" cy="0"/>
          </a:xfrm>
          <a:prstGeom prst="line">
            <a:avLst/>
          </a:prstGeom>
          <a:noFill/>
          <a:ln w="25400">
            <a:solidFill>
              <a:srgbClr val="1F2933"/>
            </a:solidFill>
            <a:prstDash val="solid"/>
            <a:tailEnd type="triangle"/>
          </a:ln>
        </p:spPr>
      </p:sp>
      <p:sp>
        <p:nvSpPr>
          <p:cNvPr id="36" name="Text 34"/>
          <p:cNvSpPr txBox="1"/>
          <p:nvPr/>
        </p:nvSpPr>
        <p:spPr>
          <a:xfrm>
            <a:off x="4480560" y="1856232"/>
            <a:ext cx="2743200" cy="438912"/>
          </a:xfrm>
          <a:prstGeom prst="rect">
            <a:avLst/>
          </a:prstGeom>
          <a:noFill/>
          <a:ln/>
        </p:spPr>
        <p:txBody>
          <a:bodyPr wrap="square" lIns="0" tIns="0" rIns="0" bIns="0" rtlCol="0" anchor="b"/>
          <a:lstStyle/>
          <a:p>
            <a:pPr algn="ctr" indent="0" marL="0">
              <a:buNone/>
            </a:pPr>
            <a:r>
              <a:rPr lang="en-US" sz="1050" b="1" dirty="0">
                <a:solidFill>
                  <a:srgbClr val="1F2933"/>
                </a:solidFill>
                <a:latin typeface="Calibri" pitchFamily="34" charset="0"/>
                <a:ea typeface="Calibri" pitchFamily="34" charset="-122"/>
                <a:cs typeface="Calibri" pitchFamily="34" charset="-120"/>
              </a:rPr>
              <a:t>① Submit round</a:t>
            </a:r>
            <a:endParaRPr lang="en-US" sz="1050" dirty="0"/>
          </a:p>
          <a:p>
            <a:pPr algn="ctr" indent="0" marL="0">
              <a:buNone/>
            </a:pPr>
            <a:r>
              <a:rPr lang="en-US" sz="1050" dirty="0">
                <a:solidFill>
                  <a:srgbClr val="1F2933"/>
                </a:solidFill>
                <a:latin typeface="Calibri" pitchFamily="34" charset="0"/>
                <a:ea typeface="Calibri" pitchFamily="34" charset="-122"/>
                <a:cs typeface="Calibri" pitchFamily="34" charset="-120"/>
              </a:rPr>
              <a:t>WES run / TES task with DRS URIs</a:t>
            </a:r>
            <a:endParaRPr lang="en-US" sz="1050" dirty="0"/>
          </a:p>
        </p:txBody>
      </p:sp>
      <p:sp>
        <p:nvSpPr>
          <p:cNvPr id="37" name="Shape 35"/>
          <p:cNvSpPr/>
          <p:nvPr/>
        </p:nvSpPr>
        <p:spPr>
          <a:xfrm>
            <a:off x="4480560" y="3154680"/>
            <a:ext cx="2743200" cy="0"/>
          </a:xfrm>
          <a:prstGeom prst="line">
            <a:avLst/>
          </a:prstGeom>
          <a:noFill/>
          <a:ln w="25400">
            <a:solidFill>
              <a:srgbClr val="1F2933"/>
            </a:solidFill>
            <a:prstDash val="solid"/>
            <a:tailEnd type="triangle"/>
          </a:ln>
        </p:spPr>
      </p:sp>
      <p:sp>
        <p:nvSpPr>
          <p:cNvPr id="38" name="Text 36"/>
          <p:cNvSpPr txBox="1"/>
          <p:nvPr/>
        </p:nvSpPr>
        <p:spPr>
          <a:xfrm>
            <a:off x="4480560" y="2679192"/>
            <a:ext cx="2743200" cy="438912"/>
          </a:xfrm>
          <a:prstGeom prst="rect">
            <a:avLst/>
          </a:prstGeom>
          <a:noFill/>
          <a:ln/>
        </p:spPr>
        <p:txBody>
          <a:bodyPr wrap="square" lIns="0" tIns="0" rIns="0" bIns="0" rtlCol="0" anchor="b"/>
          <a:lstStyle/>
          <a:p>
            <a:pPr algn="ctr" indent="0" marL="0">
              <a:buNone/>
            </a:pPr>
            <a:r>
              <a:rPr lang="en-US" sz="1050" b="1" dirty="0">
                <a:solidFill>
                  <a:srgbClr val="1F2933"/>
                </a:solidFill>
                <a:latin typeface="Calibri" pitchFamily="34" charset="0"/>
                <a:ea typeface="Calibri" pitchFamily="34" charset="-122"/>
                <a:cs typeface="Calibri" pitchFamily="34" charset="-120"/>
              </a:rPr>
              <a:t>② Pull global weights</a:t>
            </a:r>
            <a:endParaRPr lang="en-US" sz="1050" dirty="0"/>
          </a:p>
          <a:p>
            <a:pPr algn="ctr" indent="0" marL="0">
              <a:buNone/>
            </a:pPr>
            <a:r>
              <a:rPr lang="en-US" sz="1050" dirty="0">
                <a:solidFill>
                  <a:srgbClr val="1F2933"/>
                </a:solidFill>
                <a:latin typeface="Calibri" pitchFamily="34" charset="0"/>
                <a:ea typeface="Calibri" pitchFamily="34" charset="-122"/>
                <a:cs typeface="Calibri" pitchFamily="34" charset="-120"/>
              </a:rPr>
              <a:t>job resolves the DRS URI</a:t>
            </a:r>
            <a:endParaRPr lang="en-US" sz="1050" dirty="0"/>
          </a:p>
        </p:txBody>
      </p:sp>
      <p:sp>
        <p:nvSpPr>
          <p:cNvPr id="39" name="Shape 37"/>
          <p:cNvSpPr/>
          <p:nvPr/>
        </p:nvSpPr>
        <p:spPr>
          <a:xfrm>
            <a:off x="4480560" y="4069080"/>
            <a:ext cx="2743200" cy="0"/>
          </a:xfrm>
          <a:prstGeom prst="line">
            <a:avLst/>
          </a:prstGeom>
          <a:noFill/>
          <a:ln w="25400">
            <a:solidFill>
              <a:srgbClr val="1F2933"/>
            </a:solidFill>
            <a:prstDash val="solid"/>
            <a:headEnd type="triangle"/>
          </a:ln>
        </p:spPr>
      </p:sp>
      <p:sp>
        <p:nvSpPr>
          <p:cNvPr id="40" name="Text 38"/>
          <p:cNvSpPr txBox="1"/>
          <p:nvPr/>
        </p:nvSpPr>
        <p:spPr>
          <a:xfrm>
            <a:off x="4480560" y="3593592"/>
            <a:ext cx="2743200" cy="438912"/>
          </a:xfrm>
          <a:prstGeom prst="rect">
            <a:avLst/>
          </a:prstGeom>
          <a:noFill/>
          <a:ln/>
        </p:spPr>
        <p:txBody>
          <a:bodyPr wrap="square" lIns="0" tIns="0" rIns="0" bIns="0" rtlCol="0" anchor="b"/>
          <a:lstStyle/>
          <a:p>
            <a:pPr algn="ctr" indent="0" marL="0">
              <a:buNone/>
            </a:pPr>
            <a:r>
              <a:rPr lang="en-US" sz="1050" b="1" dirty="0">
                <a:solidFill>
                  <a:srgbClr val="1F2933"/>
                </a:solidFill>
                <a:latin typeface="Calibri" pitchFamily="34" charset="0"/>
                <a:ea typeface="Calibri" pitchFamily="34" charset="-122"/>
                <a:cs typeface="Calibri" pitchFamily="34" charset="-120"/>
              </a:rPr>
              <a:t>④ Return URI  ⑤ Fetch + FedAvg</a:t>
            </a:r>
            <a:endParaRPr lang="en-US" sz="1050" dirty="0"/>
          </a:p>
          <a:p>
            <a:pPr algn="ctr" indent="0" marL="0">
              <a:buNone/>
            </a:pPr>
            <a:r>
              <a:rPr lang="en-US" sz="1050" dirty="0">
                <a:solidFill>
                  <a:srgbClr val="1F2933"/>
                </a:solidFill>
                <a:latin typeface="Calibri" pitchFamily="34" charset="0"/>
                <a:ea typeface="Calibri" pitchFamily="34" charset="-122"/>
                <a:cs typeface="Calibri" pitchFamily="34" charset="-120"/>
              </a:rPr>
              <a:t>updated weights via DRS; next round</a:t>
            </a:r>
            <a:endParaRPr lang="en-US" sz="1050" dirty="0"/>
          </a:p>
        </p:txBody>
      </p:sp>
      <p:sp>
        <p:nvSpPr>
          <p:cNvPr id="41" name="Shape 39"/>
          <p:cNvSpPr/>
          <p:nvPr/>
        </p:nvSpPr>
        <p:spPr>
          <a:xfrm>
            <a:off x="457200" y="5029200"/>
            <a:ext cx="3931920" cy="1188720"/>
          </a:xfrm>
          <a:prstGeom prst="roundRect">
            <a:avLst>
              <a:gd name="adj" fmla="val 9231"/>
            </a:avLst>
          </a:prstGeom>
          <a:solidFill>
            <a:srgbClr val="FFFFFF"/>
          </a:solidFill>
          <a:ln w="19050">
            <a:solidFill>
              <a:srgbClr val="17303A"/>
            </a:solidFill>
            <a:prstDash val="solid"/>
          </a:ln>
        </p:spPr>
      </p:sp>
      <p:sp>
        <p:nvSpPr>
          <p:cNvPr id="42" name="Text 40"/>
          <p:cNvSpPr txBox="1"/>
          <p:nvPr/>
        </p:nvSpPr>
        <p:spPr>
          <a:xfrm>
            <a:off x="594360" y="5074920"/>
            <a:ext cx="3657600" cy="1097280"/>
          </a:xfrm>
          <a:prstGeom prst="rect">
            <a:avLst/>
          </a:prstGeom>
          <a:noFill/>
          <a:ln/>
        </p:spPr>
        <p:txBody>
          <a:bodyPr wrap="square" lIns="635" tIns="635" rIns="635" bIns="635" rtlCol="0" anchor="ctr"/>
          <a:lstStyle/>
          <a:p>
            <a:pPr indent="0" marL="0">
              <a:buNone/>
            </a:pPr>
            <a:r>
              <a:rPr lang="en-US" sz="1300" b="1" dirty="0">
                <a:solidFill>
                  <a:srgbClr val="1F2933"/>
                </a:solidFill>
                <a:latin typeface="Calibri" pitchFamily="34" charset="0"/>
                <a:ea typeface="Calibri" pitchFamily="34" charset="-122"/>
                <a:cs typeface="Calibri" pitchFamily="34" charset="-120"/>
              </a:rPr>
              <a:t>Synthetic data generator</a:t>
            </a:r>
            <a:endParaRPr lang="en-US" sz="1300" dirty="0"/>
          </a:p>
          <a:p>
            <a:pPr indent="0" marL="0">
              <a:buNone/>
            </a:pPr>
            <a:r>
              <a:rPr lang="en-US" sz="1050" dirty="0">
                <a:solidFill>
                  <a:srgbClr val="5B6770"/>
                </a:solidFill>
                <a:latin typeface="Calibri" pitchFamily="34" charset="0"/>
                <a:ea typeface="Calibri" pitchFamily="34" charset="-122"/>
                <a:cs typeface="Calibri" pitchFamily="34" charset="-120"/>
              </a:rPr>
              <a:t>Central, run once. ClinVar-derived features, planted pathogenicity signal, partitions skewed by gnomAD subpopulation.</a:t>
            </a:r>
            <a:endParaRPr lang="en-US" sz="1300" dirty="0"/>
          </a:p>
        </p:txBody>
      </p:sp>
      <p:sp>
        <p:nvSpPr>
          <p:cNvPr id="43" name="Shape 41"/>
          <p:cNvSpPr/>
          <p:nvPr/>
        </p:nvSpPr>
        <p:spPr>
          <a:xfrm flipV="1">
            <a:off x="4389120" y="4983480"/>
            <a:ext cx="2926080" cy="640080"/>
          </a:xfrm>
          <a:prstGeom prst="line">
            <a:avLst/>
          </a:prstGeom>
          <a:noFill/>
          <a:ln w="25400">
            <a:solidFill>
              <a:srgbClr val="0E7C7B"/>
            </a:solidFill>
            <a:prstDash val="dash"/>
            <a:tailEnd type="triangle"/>
          </a:ln>
        </p:spPr>
      </p:sp>
      <p:sp>
        <p:nvSpPr>
          <p:cNvPr id="44" name="Text 42"/>
          <p:cNvSpPr txBox="1"/>
          <p:nvPr/>
        </p:nvSpPr>
        <p:spPr>
          <a:xfrm>
            <a:off x="4572000" y="5532120"/>
            <a:ext cx="2560320" cy="457200"/>
          </a:xfrm>
          <a:prstGeom prst="rect">
            <a:avLst/>
          </a:prstGeom>
          <a:noFill/>
          <a:ln/>
        </p:spPr>
        <p:txBody>
          <a:bodyPr wrap="square" lIns="0" tIns="0" rIns="0" bIns="0" rtlCol="0" anchor="ctr"/>
          <a:lstStyle/>
          <a:p>
            <a:pPr indent="0" marL="0">
              <a:buNone/>
            </a:pPr>
            <a:r>
              <a:rPr lang="en-US" sz="1050" i="1" dirty="0">
                <a:solidFill>
                  <a:srgbClr val="0A5857"/>
                </a:solidFill>
                <a:latin typeface="Calibri" pitchFamily="34" charset="0"/>
                <a:ea typeface="Calibri" pitchFamily="34" charset="-122"/>
                <a:cs typeface="Calibri" pitchFamily="34" charset="-120"/>
              </a:rPr>
              <a:t>One partition per site, registered in its DRS</a:t>
            </a:r>
            <a:endParaRPr lang="en-US" sz="1050" dirty="0"/>
          </a:p>
        </p:txBody>
      </p:sp>
      <p:sp>
        <p:nvSpPr>
          <p:cNvPr id="45" name="Shape 43"/>
          <p:cNvSpPr/>
          <p:nvPr/>
        </p:nvSpPr>
        <p:spPr>
          <a:xfrm>
            <a:off x="7818120" y="5349240"/>
            <a:ext cx="1005840" cy="274320"/>
          </a:xfrm>
          <a:prstGeom prst="roundRect">
            <a:avLst>
              <a:gd name="adj" fmla="val 26667"/>
            </a:avLst>
          </a:prstGeom>
          <a:solidFill>
            <a:srgbClr val="FCEBD2"/>
          </a:solidFill>
          <a:ln w="12700">
            <a:solidFill>
              <a:srgbClr val="C9821F"/>
            </a:solidFill>
            <a:prstDash val="solid"/>
          </a:ln>
        </p:spPr>
      </p:sp>
      <p:sp>
        <p:nvSpPr>
          <p:cNvPr id="46" name="Text 44"/>
          <p:cNvSpPr txBox="1"/>
          <p:nvPr/>
        </p:nvSpPr>
        <p:spPr>
          <a:xfrm>
            <a:off x="8915400" y="5285232"/>
            <a:ext cx="2834640" cy="402336"/>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Expected API gap: confirm or rule out, log as an api-gap issue</a:t>
            </a:r>
            <a:endParaRPr lang="en-US" sz="1000" dirty="0"/>
          </a:p>
        </p:txBody>
      </p:sp>
      <p:sp>
        <p:nvSpPr>
          <p:cNvPr id="47" name="Shape 45"/>
          <p:cNvSpPr/>
          <p:nvPr/>
        </p:nvSpPr>
        <p:spPr>
          <a:xfrm>
            <a:off x="7818120" y="5806440"/>
            <a:ext cx="1005840" cy="274320"/>
          </a:xfrm>
          <a:prstGeom prst="roundRect">
            <a:avLst>
              <a:gd name="adj" fmla="val 26667"/>
            </a:avLst>
          </a:prstGeom>
          <a:solidFill>
            <a:srgbClr val="FFFFFF"/>
          </a:solidFill>
          <a:ln w="12700">
            <a:solidFill>
              <a:srgbClr val="8FA7B3"/>
            </a:solidFill>
            <a:prstDash val="dash"/>
          </a:ln>
        </p:spPr>
      </p:sp>
      <p:sp>
        <p:nvSpPr>
          <p:cNvPr id="48" name="Text 46"/>
          <p:cNvSpPr txBox="1"/>
          <p:nvPr/>
        </p:nvSpPr>
        <p:spPr>
          <a:xfrm>
            <a:off x="8915400" y="5742432"/>
            <a:ext cx="2834640" cy="402336"/>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Later milestone (after M3)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Next 10 weeks: a thin slice that runs end to end</a:t>
            </a:r>
            <a:endParaRPr lang="en-US" sz="3200" dirty="0"/>
          </a:p>
        </p:txBody>
      </p:sp>
      <p:sp>
        <p:nvSpPr>
          <p:cNvPr id="3" name="Shape 1"/>
          <p:cNvSpPr/>
          <p:nvPr/>
        </p:nvSpPr>
        <p:spPr>
          <a:xfrm>
            <a:off x="1417320" y="2423160"/>
            <a:ext cx="9326880" cy="0"/>
          </a:xfrm>
          <a:prstGeom prst="line">
            <a:avLst/>
          </a:prstGeom>
          <a:noFill/>
          <a:ln w="38100">
            <a:solidFill>
              <a:srgbClr val="B7C4CA"/>
            </a:solidFill>
            <a:prstDash val="solid"/>
          </a:ln>
        </p:spPr>
      </p:sp>
      <p:sp>
        <p:nvSpPr>
          <p:cNvPr id="4" name="Shape 2"/>
          <p:cNvSpPr/>
          <p:nvPr/>
        </p:nvSpPr>
        <p:spPr>
          <a:xfrm>
            <a:off x="1143000" y="2148840"/>
            <a:ext cx="548640" cy="548640"/>
          </a:xfrm>
          <a:prstGeom prst="ellipse">
            <a:avLst/>
          </a:prstGeom>
          <a:solidFill>
            <a:srgbClr val="0E7C7B"/>
          </a:solidFill>
          <a:ln w="12700">
            <a:solidFill>
              <a:srgbClr val="0E7C7B"/>
            </a:solidFill>
            <a:prstDash val="solid"/>
          </a:ln>
        </p:spPr>
      </p:sp>
      <p:sp>
        <p:nvSpPr>
          <p:cNvPr id="5" name="Text 3"/>
          <p:cNvSpPr txBox="1"/>
          <p:nvPr/>
        </p:nvSpPr>
        <p:spPr>
          <a:xfrm>
            <a:off x="1143000" y="21488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M0</a:t>
            </a:r>
            <a:endParaRPr lang="en-US" sz="1400" dirty="0"/>
          </a:p>
        </p:txBody>
      </p:sp>
      <p:sp>
        <p:nvSpPr>
          <p:cNvPr id="6" name="Text 4"/>
          <p:cNvSpPr txBox="1"/>
          <p:nvPr/>
        </p:nvSpPr>
        <p:spPr>
          <a:xfrm>
            <a:off x="594360" y="1645920"/>
            <a:ext cx="1645920" cy="365760"/>
          </a:xfrm>
          <a:prstGeom prst="rect">
            <a:avLst/>
          </a:prstGeom>
          <a:noFill/>
          <a:ln/>
        </p:spPr>
        <p:txBody>
          <a:bodyPr wrap="square" lIns="0" tIns="0" rIns="0" bIns="0" rtlCol="0" anchor="ctr"/>
          <a:lstStyle/>
          <a:p>
            <a:pPr algn="ctr" indent="0" marL="0">
              <a:buNone/>
            </a:pPr>
            <a:r>
              <a:rPr lang="en-US" sz="1400" b="1" dirty="0">
                <a:solidFill>
                  <a:srgbClr val="5B6770"/>
                </a:solidFill>
                <a:latin typeface="Calibri" pitchFamily="34" charset="0"/>
                <a:ea typeface="Calibri" pitchFamily="34" charset="-122"/>
                <a:cs typeface="Calibri" pitchFamily="34" charset="-120"/>
              </a:rPr>
              <a:t>Oct 9</a:t>
            </a:r>
            <a:endParaRPr lang="en-US" sz="1400" dirty="0"/>
          </a:p>
        </p:txBody>
      </p:sp>
      <p:sp>
        <p:nvSpPr>
          <p:cNvPr id="7" name="Text 5"/>
          <p:cNvSpPr txBox="1"/>
          <p:nvPr/>
        </p:nvSpPr>
        <p:spPr>
          <a:xfrm>
            <a:off x="457200" y="2880360"/>
            <a:ext cx="1920240" cy="640080"/>
          </a:xfrm>
          <a:prstGeom prst="rect">
            <a:avLst/>
          </a:prstGeom>
          <a:noFill/>
          <a:ln/>
        </p:spPr>
        <p:txBody>
          <a:bodyPr wrap="square" lIns="0" tIns="0" rIns="0" bIns="0" rtlCol="0" anchor="t"/>
          <a:lstStyle/>
          <a:p>
            <a:pPr algn="ctr" indent="0" marL="0">
              <a:buNone/>
            </a:pPr>
            <a:r>
              <a:rPr lang="en-US" sz="1600" b="1" dirty="0">
                <a:solidFill>
                  <a:srgbClr val="1F2933"/>
                </a:solidFill>
                <a:latin typeface="Calibri" pitchFamily="34" charset="0"/>
                <a:ea typeface="Calibri" pitchFamily="34" charset="-122"/>
                <a:cs typeface="Calibri" pitchFamily="34" charset="-120"/>
              </a:rPr>
              <a:t>Decisions + champions</a:t>
            </a:r>
            <a:endParaRPr lang="en-US" sz="1600" dirty="0"/>
          </a:p>
        </p:txBody>
      </p:sp>
      <p:sp>
        <p:nvSpPr>
          <p:cNvPr id="8" name="Text 6"/>
          <p:cNvSpPr txBox="1"/>
          <p:nvPr/>
        </p:nvSpPr>
        <p:spPr>
          <a:xfrm>
            <a:off x="457200" y="3520440"/>
            <a:ext cx="1920240" cy="137160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Stack decisions recorded; a champion per workstream</a:t>
            </a:r>
            <a:endParaRPr lang="en-US" sz="1250" dirty="0"/>
          </a:p>
        </p:txBody>
      </p:sp>
      <p:sp>
        <p:nvSpPr>
          <p:cNvPr id="9" name="Shape 7"/>
          <p:cNvSpPr/>
          <p:nvPr/>
        </p:nvSpPr>
        <p:spPr>
          <a:xfrm>
            <a:off x="3474720" y="2148840"/>
            <a:ext cx="548640" cy="548640"/>
          </a:xfrm>
          <a:prstGeom prst="ellipse">
            <a:avLst/>
          </a:prstGeom>
          <a:solidFill>
            <a:srgbClr val="0E7C7B"/>
          </a:solidFill>
          <a:ln w="12700">
            <a:solidFill>
              <a:srgbClr val="0E7C7B"/>
            </a:solidFill>
            <a:prstDash val="solid"/>
          </a:ln>
        </p:spPr>
      </p:sp>
      <p:sp>
        <p:nvSpPr>
          <p:cNvPr id="10" name="Text 8"/>
          <p:cNvSpPr txBox="1"/>
          <p:nvPr/>
        </p:nvSpPr>
        <p:spPr>
          <a:xfrm>
            <a:off x="3474720" y="21488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M1</a:t>
            </a:r>
            <a:endParaRPr lang="en-US" sz="1400" dirty="0"/>
          </a:p>
        </p:txBody>
      </p:sp>
      <p:sp>
        <p:nvSpPr>
          <p:cNvPr id="11" name="Text 9"/>
          <p:cNvSpPr txBox="1"/>
          <p:nvPr/>
        </p:nvSpPr>
        <p:spPr>
          <a:xfrm>
            <a:off x="2926080" y="1645920"/>
            <a:ext cx="1645920" cy="365760"/>
          </a:xfrm>
          <a:prstGeom prst="rect">
            <a:avLst/>
          </a:prstGeom>
          <a:noFill/>
          <a:ln/>
        </p:spPr>
        <p:txBody>
          <a:bodyPr wrap="square" lIns="0" tIns="0" rIns="0" bIns="0" rtlCol="0" anchor="ctr"/>
          <a:lstStyle/>
          <a:p>
            <a:pPr algn="ctr" indent="0" marL="0">
              <a:buNone/>
            </a:pPr>
            <a:r>
              <a:rPr lang="en-US" sz="1400" b="1" dirty="0">
                <a:solidFill>
                  <a:srgbClr val="5B6770"/>
                </a:solidFill>
                <a:latin typeface="Calibri" pitchFamily="34" charset="0"/>
                <a:ea typeface="Calibri" pitchFamily="34" charset="-122"/>
                <a:cs typeface="Calibri" pitchFamily="34" charset="-120"/>
              </a:rPr>
              <a:t>Oct 30</a:t>
            </a:r>
            <a:endParaRPr lang="en-US" sz="1400" dirty="0"/>
          </a:p>
        </p:txBody>
      </p:sp>
      <p:sp>
        <p:nvSpPr>
          <p:cNvPr id="12" name="Text 10"/>
          <p:cNvSpPr txBox="1"/>
          <p:nvPr/>
        </p:nvSpPr>
        <p:spPr>
          <a:xfrm>
            <a:off x="2788920" y="2880360"/>
            <a:ext cx="1920240" cy="640080"/>
          </a:xfrm>
          <a:prstGeom prst="rect">
            <a:avLst/>
          </a:prstGeom>
          <a:noFill/>
          <a:ln/>
        </p:spPr>
        <p:txBody>
          <a:bodyPr wrap="square" lIns="0" tIns="0" rIns="0" bIns="0" rtlCol="0" anchor="t"/>
          <a:lstStyle/>
          <a:p>
            <a:pPr algn="ctr" indent="0" marL="0">
              <a:buNone/>
            </a:pPr>
            <a:r>
              <a:rPr lang="en-US" sz="1600" b="1" dirty="0">
                <a:solidFill>
                  <a:srgbClr val="1F2933"/>
                </a:solidFill>
                <a:latin typeface="Calibri" pitchFamily="34" charset="0"/>
                <a:ea typeface="Calibri" pitchFamily="34" charset="-122"/>
                <a:cs typeface="Calibri" pitchFamily="34" charset="-120"/>
              </a:rPr>
              <a:t>Science in simulation</a:t>
            </a:r>
            <a:endParaRPr lang="en-US" sz="1600" dirty="0"/>
          </a:p>
        </p:txBody>
      </p:sp>
      <p:sp>
        <p:nvSpPr>
          <p:cNvPr id="13" name="Text 11"/>
          <p:cNvSpPr txBox="1"/>
          <p:nvPr/>
        </p:nvSpPr>
        <p:spPr>
          <a:xfrm>
            <a:off x="2788920" y="3520440"/>
            <a:ext cx="1920240" cy="137160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Partitions with planted signal; federated beats local on one machine; training container</a:t>
            </a:r>
            <a:endParaRPr lang="en-US" sz="1250" dirty="0"/>
          </a:p>
        </p:txBody>
      </p:sp>
      <p:sp>
        <p:nvSpPr>
          <p:cNvPr id="14" name="Shape 12"/>
          <p:cNvSpPr/>
          <p:nvPr/>
        </p:nvSpPr>
        <p:spPr>
          <a:xfrm>
            <a:off x="5806440" y="2148840"/>
            <a:ext cx="548640" cy="548640"/>
          </a:xfrm>
          <a:prstGeom prst="ellipse">
            <a:avLst/>
          </a:prstGeom>
          <a:solidFill>
            <a:srgbClr val="0E7C7B"/>
          </a:solidFill>
          <a:ln w="12700">
            <a:solidFill>
              <a:srgbClr val="0E7C7B"/>
            </a:solidFill>
            <a:prstDash val="solid"/>
          </a:ln>
        </p:spPr>
      </p:sp>
      <p:sp>
        <p:nvSpPr>
          <p:cNvPr id="15" name="Text 13"/>
          <p:cNvSpPr txBox="1"/>
          <p:nvPr/>
        </p:nvSpPr>
        <p:spPr>
          <a:xfrm>
            <a:off x="5806440" y="21488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M2</a:t>
            </a:r>
            <a:endParaRPr lang="en-US" sz="1400" dirty="0"/>
          </a:p>
        </p:txBody>
      </p:sp>
      <p:sp>
        <p:nvSpPr>
          <p:cNvPr id="16" name="Text 14"/>
          <p:cNvSpPr txBox="1"/>
          <p:nvPr/>
        </p:nvSpPr>
        <p:spPr>
          <a:xfrm>
            <a:off x="5257800" y="1645920"/>
            <a:ext cx="1645920" cy="365760"/>
          </a:xfrm>
          <a:prstGeom prst="rect">
            <a:avLst/>
          </a:prstGeom>
          <a:noFill/>
          <a:ln/>
        </p:spPr>
        <p:txBody>
          <a:bodyPr wrap="square" lIns="0" tIns="0" rIns="0" bIns="0" rtlCol="0" anchor="ctr"/>
          <a:lstStyle/>
          <a:p>
            <a:pPr algn="ctr" indent="0" marL="0">
              <a:buNone/>
            </a:pPr>
            <a:r>
              <a:rPr lang="en-US" sz="1400" b="1" dirty="0">
                <a:solidFill>
                  <a:srgbClr val="5B6770"/>
                </a:solidFill>
                <a:latin typeface="Calibri" pitchFamily="34" charset="0"/>
                <a:ea typeface="Calibri" pitchFamily="34" charset="-122"/>
                <a:cs typeface="Calibri" pitchFamily="34" charset="-120"/>
              </a:rPr>
              <a:t>Nov 20</a:t>
            </a:r>
            <a:endParaRPr lang="en-US" sz="1400" dirty="0"/>
          </a:p>
        </p:txBody>
      </p:sp>
      <p:sp>
        <p:nvSpPr>
          <p:cNvPr id="17" name="Text 15"/>
          <p:cNvSpPr txBox="1"/>
          <p:nvPr/>
        </p:nvSpPr>
        <p:spPr>
          <a:xfrm>
            <a:off x="5120640" y="2880360"/>
            <a:ext cx="1920240" cy="640080"/>
          </a:xfrm>
          <a:prstGeom prst="rect">
            <a:avLst/>
          </a:prstGeom>
          <a:noFill/>
          <a:ln/>
        </p:spPr>
        <p:txBody>
          <a:bodyPr wrap="square" lIns="0" tIns="0" rIns="0" bIns="0" rtlCol="0" anchor="t"/>
          <a:lstStyle/>
          <a:p>
            <a:pPr algn="ctr" indent="0" marL="0">
              <a:buNone/>
            </a:pPr>
            <a:r>
              <a:rPr lang="en-US" sz="1600" b="1" dirty="0">
                <a:solidFill>
                  <a:srgbClr val="1F2933"/>
                </a:solidFill>
                <a:latin typeface="Calibri" pitchFamily="34" charset="0"/>
                <a:ea typeface="Calibri" pitchFamily="34" charset="-122"/>
                <a:cs typeface="Calibri" pitchFamily="34" charset="-120"/>
              </a:rPr>
              <a:t>One node in a box</a:t>
            </a:r>
            <a:endParaRPr lang="en-US" sz="1600" dirty="0"/>
          </a:p>
        </p:txBody>
      </p:sp>
      <p:sp>
        <p:nvSpPr>
          <p:cNvPr id="18" name="Text 16"/>
          <p:cNvSpPr txBox="1"/>
          <p:nvPr/>
        </p:nvSpPr>
        <p:spPr>
          <a:xfrm>
            <a:off x="5120640" y="3520440"/>
            <a:ext cx="1920240" cy="137160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compose up → DRS + WES/TES; one full round against it</a:t>
            </a:r>
            <a:endParaRPr lang="en-US" sz="1250" dirty="0"/>
          </a:p>
        </p:txBody>
      </p:sp>
      <p:sp>
        <p:nvSpPr>
          <p:cNvPr id="19" name="Shape 17"/>
          <p:cNvSpPr/>
          <p:nvPr/>
        </p:nvSpPr>
        <p:spPr>
          <a:xfrm>
            <a:off x="8138160" y="2148840"/>
            <a:ext cx="548640" cy="548640"/>
          </a:xfrm>
          <a:prstGeom prst="ellipse">
            <a:avLst/>
          </a:prstGeom>
          <a:solidFill>
            <a:srgbClr val="C9821F"/>
          </a:solidFill>
          <a:ln w="12700">
            <a:solidFill>
              <a:srgbClr val="C9821F"/>
            </a:solidFill>
            <a:prstDash val="solid"/>
          </a:ln>
        </p:spPr>
      </p:sp>
      <p:sp>
        <p:nvSpPr>
          <p:cNvPr id="20" name="Text 18"/>
          <p:cNvSpPr txBox="1"/>
          <p:nvPr/>
        </p:nvSpPr>
        <p:spPr>
          <a:xfrm>
            <a:off x="8138160" y="21488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M3</a:t>
            </a:r>
            <a:endParaRPr lang="en-US" sz="1400" dirty="0"/>
          </a:p>
        </p:txBody>
      </p:sp>
      <p:sp>
        <p:nvSpPr>
          <p:cNvPr id="21" name="Text 19"/>
          <p:cNvSpPr txBox="1"/>
          <p:nvPr/>
        </p:nvSpPr>
        <p:spPr>
          <a:xfrm>
            <a:off x="7589520" y="1645920"/>
            <a:ext cx="1645920" cy="365760"/>
          </a:xfrm>
          <a:prstGeom prst="rect">
            <a:avLst/>
          </a:prstGeom>
          <a:noFill/>
          <a:ln/>
        </p:spPr>
        <p:txBody>
          <a:bodyPr wrap="square" lIns="0" tIns="0" rIns="0" bIns="0" rtlCol="0" anchor="ctr"/>
          <a:lstStyle/>
          <a:p>
            <a:pPr algn="ctr" indent="0" marL="0">
              <a:buNone/>
            </a:pPr>
            <a:r>
              <a:rPr lang="en-US" sz="1400" b="1" dirty="0">
                <a:solidFill>
                  <a:srgbClr val="5B6770"/>
                </a:solidFill>
                <a:latin typeface="Calibri" pitchFamily="34" charset="0"/>
                <a:ea typeface="Calibri" pitchFamily="34" charset="-122"/>
                <a:cs typeface="Calibri" pitchFamily="34" charset="-120"/>
              </a:rPr>
              <a:t>Dec 11</a:t>
            </a:r>
            <a:endParaRPr lang="en-US" sz="1400" dirty="0"/>
          </a:p>
        </p:txBody>
      </p:sp>
      <p:sp>
        <p:nvSpPr>
          <p:cNvPr id="22" name="Text 20"/>
          <p:cNvSpPr txBox="1"/>
          <p:nvPr/>
        </p:nvSpPr>
        <p:spPr>
          <a:xfrm>
            <a:off x="7452360" y="2880360"/>
            <a:ext cx="1920240" cy="640080"/>
          </a:xfrm>
          <a:prstGeom prst="rect">
            <a:avLst/>
          </a:prstGeom>
          <a:noFill/>
          <a:ln/>
        </p:spPr>
        <p:txBody>
          <a:bodyPr wrap="square" lIns="0" tIns="0" rIns="0" bIns="0" rtlCol="0" anchor="t"/>
          <a:lstStyle/>
          <a:p>
            <a:pPr algn="ctr" indent="0" marL="0">
              <a:buNone/>
            </a:pPr>
            <a:r>
              <a:rPr lang="en-US" sz="1600" b="1" dirty="0">
                <a:solidFill>
                  <a:srgbClr val="1F2933"/>
                </a:solidFill>
                <a:latin typeface="Calibri" pitchFamily="34" charset="0"/>
                <a:ea typeface="Calibri" pitchFamily="34" charset="-122"/>
                <a:cs typeface="Calibri" pitchFamily="34" charset="-120"/>
              </a:rPr>
              <a:t>Multi-site</a:t>
            </a:r>
            <a:endParaRPr lang="en-US" sz="1600" dirty="0"/>
          </a:p>
        </p:txBody>
      </p:sp>
      <p:sp>
        <p:nvSpPr>
          <p:cNvPr id="23" name="Text 21"/>
          <p:cNvSpPr txBox="1"/>
          <p:nvPr/>
        </p:nvSpPr>
        <p:spPr>
          <a:xfrm>
            <a:off x="7452360" y="3520440"/>
            <a:ext cx="1920240" cy="137160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2–3 real nodes, 10+ rounds over the internet, static tokens, result reproduced</a:t>
            </a:r>
            <a:endParaRPr lang="en-US" sz="1250" dirty="0"/>
          </a:p>
        </p:txBody>
      </p:sp>
      <p:sp>
        <p:nvSpPr>
          <p:cNvPr id="24" name="Shape 22"/>
          <p:cNvSpPr/>
          <p:nvPr/>
        </p:nvSpPr>
        <p:spPr>
          <a:xfrm>
            <a:off x="10469880" y="2148840"/>
            <a:ext cx="548640" cy="548640"/>
          </a:xfrm>
          <a:prstGeom prst="ellipse">
            <a:avLst/>
          </a:prstGeom>
          <a:solidFill>
            <a:srgbClr val="0E7C7B"/>
          </a:solidFill>
          <a:ln w="12700">
            <a:solidFill>
              <a:srgbClr val="0E7C7B"/>
            </a:solidFill>
            <a:prstDash val="solid"/>
          </a:ln>
        </p:spPr>
      </p:sp>
      <p:sp>
        <p:nvSpPr>
          <p:cNvPr id="25" name="Text 23"/>
          <p:cNvSpPr txBox="1"/>
          <p:nvPr/>
        </p:nvSpPr>
        <p:spPr>
          <a:xfrm>
            <a:off x="10469880" y="21488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M4</a:t>
            </a:r>
            <a:endParaRPr lang="en-US" sz="1400" dirty="0"/>
          </a:p>
        </p:txBody>
      </p:sp>
      <p:sp>
        <p:nvSpPr>
          <p:cNvPr id="26" name="Text 24"/>
          <p:cNvSpPr txBox="1"/>
          <p:nvPr/>
        </p:nvSpPr>
        <p:spPr>
          <a:xfrm>
            <a:off x="9921240" y="1645920"/>
            <a:ext cx="1645920" cy="365760"/>
          </a:xfrm>
          <a:prstGeom prst="rect">
            <a:avLst/>
          </a:prstGeom>
          <a:noFill/>
          <a:ln/>
        </p:spPr>
        <p:txBody>
          <a:bodyPr wrap="square" lIns="0" tIns="0" rIns="0" bIns="0" rtlCol="0" anchor="ctr"/>
          <a:lstStyle/>
          <a:p>
            <a:pPr algn="ctr" indent="0" marL="0">
              <a:buNone/>
            </a:pPr>
            <a:r>
              <a:rPr lang="en-US" sz="1400" b="1" dirty="0">
                <a:solidFill>
                  <a:srgbClr val="5B6770"/>
                </a:solidFill>
                <a:latin typeface="Calibri" pitchFamily="34" charset="0"/>
                <a:ea typeface="Calibri" pitchFamily="34" charset="-122"/>
                <a:cs typeface="Calibri" pitchFamily="34" charset="-120"/>
              </a:rPr>
              <a:t>Jan 2027</a:t>
            </a:r>
            <a:endParaRPr lang="en-US" sz="1400" dirty="0"/>
          </a:p>
        </p:txBody>
      </p:sp>
      <p:sp>
        <p:nvSpPr>
          <p:cNvPr id="27" name="Text 25"/>
          <p:cNvSpPr txBox="1"/>
          <p:nvPr/>
        </p:nvSpPr>
        <p:spPr>
          <a:xfrm>
            <a:off x="9784080" y="2880360"/>
            <a:ext cx="1920240" cy="640080"/>
          </a:xfrm>
          <a:prstGeom prst="rect">
            <a:avLst/>
          </a:prstGeom>
          <a:noFill/>
          <a:ln/>
        </p:spPr>
        <p:txBody>
          <a:bodyPr wrap="square" lIns="0" tIns="0" rIns="0" bIns="0" rtlCol="0" anchor="t"/>
          <a:lstStyle/>
          <a:p>
            <a:pPr algn="ctr" indent="0" marL="0">
              <a:buNone/>
            </a:pPr>
            <a:r>
              <a:rPr lang="en-US" sz="1600" b="1" dirty="0">
                <a:solidFill>
                  <a:srgbClr val="1F2933"/>
                </a:solidFill>
                <a:latin typeface="Calibri" pitchFamily="34" charset="0"/>
                <a:ea typeface="Calibri" pitchFamily="34" charset="-122"/>
                <a:cs typeface="Calibri" pitchFamily="34" charset="-120"/>
              </a:rPr>
              <a:t>Onboarding + blog</a:t>
            </a:r>
            <a:endParaRPr lang="en-US" sz="1600" dirty="0"/>
          </a:p>
        </p:txBody>
      </p:sp>
      <p:sp>
        <p:nvSpPr>
          <p:cNvPr id="28" name="Text 26"/>
          <p:cNvSpPr txBox="1"/>
          <p:nvPr/>
        </p:nvSpPr>
        <p:spPr>
          <a:xfrm>
            <a:off x="9784080" y="3520440"/>
            <a:ext cx="1920240" cy="137160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Runbook; first external Driver Project joins; blog post</a:t>
            </a:r>
            <a:endParaRPr lang="en-US" sz="1250" dirty="0"/>
          </a:p>
        </p:txBody>
      </p:sp>
      <p:sp>
        <p:nvSpPr>
          <p:cNvPr id="29" name="Shape 27"/>
          <p:cNvSpPr/>
          <p:nvPr/>
        </p:nvSpPr>
        <p:spPr>
          <a:xfrm>
            <a:off x="457200" y="5257800"/>
            <a:ext cx="11277295" cy="868680"/>
          </a:xfrm>
          <a:prstGeom prst="roundRect">
            <a:avLst>
              <a:gd name="adj" fmla="val 10526"/>
            </a:avLst>
          </a:prstGeom>
          <a:solidFill>
            <a:srgbClr val="FCEBD2"/>
          </a:solidFill>
          <a:ln w="12700">
            <a:solidFill>
              <a:srgbClr val="C9821F"/>
            </a:solidFill>
            <a:prstDash val="solid"/>
          </a:ln>
        </p:spPr>
      </p:sp>
      <p:sp>
        <p:nvSpPr>
          <p:cNvPr id="30" name="Text 28"/>
          <p:cNvSpPr txBox="1"/>
          <p:nvPr/>
        </p:nvSpPr>
        <p:spPr>
          <a:xfrm>
            <a:off x="685800" y="5303520"/>
            <a:ext cx="10820095" cy="777240"/>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Deferred until after M3: </a:t>
            </a:r>
            <a:pPr indent="0" marL="0">
              <a:buNone/>
            </a:pPr>
            <a:r>
              <a:rPr lang="en-US" sz="1400" dirty="0">
                <a:solidFill>
                  <a:srgbClr val="1F2933"/>
                </a:solidFill>
                <a:latin typeface="Calibri" pitchFamily="34" charset="0"/>
                <a:ea typeface="Calibri" pitchFamily="34" charset="-122"/>
                <a:cs typeface="Calibri" pitchFamily="34" charset="-120"/>
              </a:rPr>
              <a:t>Passports and M2M delegation · HPC (SLURM/PBS, Apptainer) · GPU passthrough · DP epsilon sweep · HuggingFace Hub and Dockstore · telemetry study. All still in the 12-month plan.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Evaluator readouts</a:t>
            </a:r>
            <a:endParaRPr lang="en-US" sz="3200" dirty="0"/>
          </a:p>
        </p:txBody>
      </p:sp>
      <p:sp>
        <p:nvSpPr>
          <p:cNvPr id="3" name="Text 1"/>
          <p:cNvSpPr txBox="1"/>
          <p:nvPr/>
        </p:nvSpPr>
        <p:spPr>
          <a:xfrm>
            <a:off x="457200" y="1005840"/>
            <a:ext cx="11277295" cy="41148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6 minutes each, then questions. Pick the node-in-a-box stack.</a:t>
            </a:r>
            <a:endParaRPr lang="en-US" sz="1500" dirty="0"/>
          </a:p>
        </p:txBody>
      </p:sp>
      <p:sp>
        <p:nvSpPr>
          <p:cNvPr id="4" name="Shape 2"/>
          <p:cNvSpPr/>
          <p:nvPr/>
        </p:nvSpPr>
        <p:spPr>
          <a:xfrm>
            <a:off x="457200" y="1691640"/>
            <a:ext cx="4754880" cy="1097280"/>
          </a:xfrm>
          <a:prstGeom prst="roundRect">
            <a:avLst>
              <a:gd name="adj" fmla="val 8333"/>
            </a:avLst>
          </a:prstGeom>
          <a:solidFill>
            <a:srgbClr val="F2F5F6"/>
          </a:solidFill>
          <a:ln w="12700">
            <a:solidFill>
              <a:srgbClr val="F2F5F6"/>
            </a:solidFill>
            <a:prstDash val="solid"/>
          </a:ln>
        </p:spPr>
      </p:sp>
      <p:sp>
        <p:nvSpPr>
          <p:cNvPr id="5" name="Shape 3"/>
          <p:cNvSpPr/>
          <p:nvPr/>
        </p:nvSpPr>
        <p:spPr>
          <a:xfrm>
            <a:off x="685800" y="1965960"/>
            <a:ext cx="548640" cy="548640"/>
          </a:xfrm>
          <a:prstGeom prst="ellipse">
            <a:avLst/>
          </a:prstGeom>
          <a:solidFill>
            <a:srgbClr val="17303A"/>
          </a:solidFill>
          <a:ln w="12700">
            <a:solidFill>
              <a:srgbClr val="17303A"/>
            </a:solidFill>
            <a:prstDash val="solid"/>
          </a:ln>
        </p:spPr>
      </p:sp>
      <p:sp>
        <p:nvSpPr>
          <p:cNvPr id="6" name="Text 4"/>
          <p:cNvSpPr txBox="1"/>
          <p:nvPr/>
        </p:nvSpPr>
        <p:spPr>
          <a:xfrm>
            <a:off x="68580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417320" y="1691640"/>
            <a:ext cx="3657600" cy="109728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Andrew</a:t>
            </a:r>
            <a:endParaRPr lang="en-US" sz="1800" dirty="0"/>
          </a:p>
          <a:p>
            <a:pPr indent="0" marL="0">
              <a:buNone/>
            </a:pPr>
            <a:r>
              <a:rPr lang="en-US" sz="1350" dirty="0">
                <a:solidFill>
                  <a:srgbClr val="5B6770"/>
                </a:solidFill>
                <a:latin typeface="Calibri" pitchFamily="34" charset="0"/>
                <a:ea typeface="Calibri" pitchFamily="34" charset="-122"/>
                <a:cs typeface="Calibri" pitchFamily="34" charset="-120"/>
              </a:rPr>
              <a:t>GSoC stack</a:t>
            </a:r>
            <a:endParaRPr lang="en-US" sz="1800" dirty="0"/>
          </a:p>
        </p:txBody>
      </p:sp>
      <p:sp>
        <p:nvSpPr>
          <p:cNvPr id="8" name="Shape 6"/>
          <p:cNvSpPr/>
          <p:nvPr/>
        </p:nvSpPr>
        <p:spPr>
          <a:xfrm>
            <a:off x="457200" y="3017520"/>
            <a:ext cx="4754880" cy="1097280"/>
          </a:xfrm>
          <a:prstGeom prst="roundRect">
            <a:avLst>
              <a:gd name="adj" fmla="val 8333"/>
            </a:avLst>
          </a:prstGeom>
          <a:solidFill>
            <a:srgbClr val="F2F5F6"/>
          </a:solidFill>
          <a:ln w="12700">
            <a:solidFill>
              <a:srgbClr val="F2F5F6"/>
            </a:solidFill>
            <a:prstDash val="solid"/>
          </a:ln>
        </p:spPr>
      </p:sp>
      <p:sp>
        <p:nvSpPr>
          <p:cNvPr id="9" name="Shape 7"/>
          <p:cNvSpPr/>
          <p:nvPr/>
        </p:nvSpPr>
        <p:spPr>
          <a:xfrm>
            <a:off x="685800" y="3291840"/>
            <a:ext cx="548640" cy="548640"/>
          </a:xfrm>
          <a:prstGeom prst="ellipse">
            <a:avLst/>
          </a:prstGeom>
          <a:solidFill>
            <a:srgbClr val="17303A"/>
          </a:solidFill>
          <a:ln w="12700">
            <a:solidFill>
              <a:srgbClr val="17303A"/>
            </a:solidFill>
            <a:prstDash val="solid"/>
          </a:ln>
        </p:spPr>
      </p:sp>
      <p:sp>
        <p:nvSpPr>
          <p:cNvPr id="10" name="Text 8"/>
          <p:cNvSpPr txBox="1"/>
          <p:nvPr/>
        </p:nvSpPr>
        <p:spPr>
          <a:xfrm>
            <a:off x="685800" y="3291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t>
            </a:r>
            <a:endParaRPr lang="en-US" sz="1600" dirty="0"/>
          </a:p>
        </p:txBody>
      </p:sp>
      <p:sp>
        <p:nvSpPr>
          <p:cNvPr id="11" name="Text 9"/>
          <p:cNvSpPr txBox="1"/>
          <p:nvPr/>
        </p:nvSpPr>
        <p:spPr>
          <a:xfrm>
            <a:off x="1417320" y="3017520"/>
            <a:ext cx="3657600" cy="109728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Kyle</a:t>
            </a:r>
            <a:endParaRPr lang="en-US" sz="1800" dirty="0"/>
          </a:p>
          <a:p>
            <a:pPr indent="0" marL="0">
              <a:buNone/>
            </a:pPr>
            <a:r>
              <a:rPr lang="en-US" sz="1350" dirty="0">
                <a:solidFill>
                  <a:srgbClr val="5B6770"/>
                </a:solidFill>
                <a:latin typeface="Calibri" pitchFamily="34" charset="0"/>
                <a:ea typeface="Calibri" pitchFamily="34" charset="-122"/>
                <a:cs typeface="Calibri" pitchFamily="34" charset="-120"/>
              </a:rPr>
              <a:t>Syfon (DRS 1.6) + Funnel (TES)</a:t>
            </a:r>
            <a:endParaRPr lang="en-US" sz="1800" dirty="0"/>
          </a:p>
        </p:txBody>
      </p:sp>
      <p:sp>
        <p:nvSpPr>
          <p:cNvPr id="12" name="Shape 10"/>
          <p:cNvSpPr/>
          <p:nvPr/>
        </p:nvSpPr>
        <p:spPr>
          <a:xfrm>
            <a:off x="457200" y="4343400"/>
            <a:ext cx="4754880" cy="1097280"/>
          </a:xfrm>
          <a:prstGeom prst="roundRect">
            <a:avLst>
              <a:gd name="adj" fmla="val 8333"/>
            </a:avLst>
          </a:prstGeom>
          <a:solidFill>
            <a:srgbClr val="F2F5F6"/>
          </a:solidFill>
          <a:ln w="12700">
            <a:solidFill>
              <a:srgbClr val="F2F5F6"/>
            </a:solidFill>
            <a:prstDash val="solid"/>
          </a:ln>
        </p:spPr>
      </p:sp>
      <p:sp>
        <p:nvSpPr>
          <p:cNvPr id="13" name="Shape 11"/>
          <p:cNvSpPr/>
          <p:nvPr/>
        </p:nvSpPr>
        <p:spPr>
          <a:xfrm>
            <a:off x="685800" y="4617720"/>
            <a:ext cx="548640" cy="548640"/>
          </a:xfrm>
          <a:prstGeom prst="ellipse">
            <a:avLst/>
          </a:prstGeom>
          <a:solidFill>
            <a:srgbClr val="17303A"/>
          </a:solidFill>
          <a:ln w="12700">
            <a:solidFill>
              <a:srgbClr val="17303A"/>
            </a:solidFill>
            <a:prstDash val="solid"/>
          </a:ln>
        </p:spPr>
      </p:sp>
      <p:sp>
        <p:nvSpPr>
          <p:cNvPr id="14" name="Text 12"/>
          <p:cNvSpPr txBox="1"/>
          <p:nvPr/>
        </p:nvSpPr>
        <p:spPr>
          <a:xfrm>
            <a:off x="685800" y="46177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5" name="Text 13"/>
          <p:cNvSpPr txBox="1"/>
          <p:nvPr/>
        </p:nvSpPr>
        <p:spPr>
          <a:xfrm>
            <a:off x="1417320" y="4343400"/>
            <a:ext cx="3657600" cy="1097280"/>
          </a:xfrm>
          <a:prstGeom prst="rect">
            <a:avLst/>
          </a:prstGeom>
          <a:noFill/>
          <a:ln/>
        </p:spPr>
        <p:txBody>
          <a:bodyPr wrap="square" lIns="0" tIns="0" rIns="0" bIns="0" rtlCol="0" anchor="ctr"/>
          <a:lstStyle/>
          <a:p>
            <a:pPr indent="0" marL="0">
              <a:buNone/>
            </a:pPr>
            <a:r>
              <a:rPr lang="en-US" sz="1800" b="1" dirty="0">
                <a:solidFill>
                  <a:srgbClr val="1F2933"/>
                </a:solidFill>
                <a:latin typeface="Calibri" pitchFamily="34" charset="0"/>
                <a:ea typeface="Calibri" pitchFamily="34" charset="-122"/>
                <a:cs typeface="Calibri" pitchFamily="34" charset="-120"/>
              </a:rPr>
              <a:t>Brian</a:t>
            </a:r>
            <a:endParaRPr lang="en-US" sz="1800" dirty="0"/>
          </a:p>
          <a:p>
            <a:pPr indent="0" marL="0">
              <a:buNone/>
            </a:pPr>
            <a:r>
              <a:rPr lang="en-US" sz="1350" dirty="0">
                <a:solidFill>
                  <a:srgbClr val="5B6770"/>
                </a:solidFill>
                <a:latin typeface="Calibri" pitchFamily="34" charset="0"/>
                <a:ea typeface="Calibri" pitchFamily="34" charset="-122"/>
                <a:cs typeface="Calibri" pitchFamily="34" charset="-120"/>
              </a:rPr>
              <a:t>Starter Kit and Reference Cloud (DRS 1.5 target)</a:t>
            </a:r>
            <a:endParaRPr lang="en-US" sz="1800" dirty="0"/>
          </a:p>
        </p:txBody>
      </p:sp>
      <p:sp>
        <p:nvSpPr>
          <p:cNvPr id="16" name="Text 14"/>
          <p:cNvSpPr txBox="1"/>
          <p:nvPr/>
        </p:nvSpPr>
        <p:spPr>
          <a:xfrm>
            <a:off x="5760720" y="1691640"/>
            <a:ext cx="5943600" cy="411480"/>
          </a:xfrm>
          <a:prstGeom prst="rect">
            <a:avLst/>
          </a:prstGeom>
          <a:noFill/>
          <a:ln/>
        </p:spPr>
        <p:txBody>
          <a:bodyPr wrap="square" lIns="0" tIns="0" rIns="0" bIns="0" rtlCol="0" anchor="ctr"/>
          <a:lstStyle/>
          <a:p>
            <a:pPr indent="0" marL="0">
              <a:buNone/>
            </a:pPr>
            <a:r>
              <a:rPr lang="en-US" sz="2000" b="1" dirty="0">
                <a:solidFill>
                  <a:srgbClr val="1F2933"/>
                </a:solidFill>
                <a:latin typeface="Cambria" pitchFamily="34" charset="0"/>
                <a:ea typeface="Cambria" pitchFamily="34" charset="-122"/>
                <a:cs typeface="Cambria" pitchFamily="34" charset="-120"/>
              </a:rPr>
              <a:t>Cover these five</a:t>
            </a:r>
            <a:endParaRPr lang="en-US" sz="2000" dirty="0"/>
          </a:p>
        </p:txBody>
      </p:sp>
      <p:sp>
        <p:nvSpPr>
          <p:cNvPr id="17" name="Shape 15"/>
          <p:cNvSpPr/>
          <p:nvPr/>
        </p:nvSpPr>
        <p:spPr>
          <a:xfrm>
            <a:off x="5760720" y="2240280"/>
            <a:ext cx="411480" cy="411480"/>
          </a:xfrm>
          <a:prstGeom prst="ellipse">
            <a:avLst/>
          </a:prstGeom>
          <a:solidFill>
            <a:srgbClr val="0E7C7B"/>
          </a:solidFill>
          <a:ln w="12700">
            <a:solidFill>
              <a:srgbClr val="0E7C7B"/>
            </a:solidFill>
            <a:prstDash val="solid"/>
          </a:ln>
        </p:spPr>
      </p:sp>
      <p:sp>
        <p:nvSpPr>
          <p:cNvPr id="18" name="Text 16"/>
          <p:cNvSpPr txBox="1"/>
          <p:nvPr/>
        </p:nvSpPr>
        <p:spPr>
          <a:xfrm>
            <a:off x="5760720" y="22402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7"/>
          <p:cNvSpPr txBox="1"/>
          <p:nvPr/>
        </p:nvSpPr>
        <p:spPr>
          <a:xfrm>
            <a:off x="6355080" y="2148840"/>
            <a:ext cx="5394960" cy="59436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APIs and versions implemented (DRS, WES, TES, Passport)</a:t>
            </a:r>
            <a:endParaRPr lang="en-US" sz="1500" dirty="0"/>
          </a:p>
        </p:txBody>
      </p:sp>
      <p:sp>
        <p:nvSpPr>
          <p:cNvPr id="20" name="Shape 18"/>
          <p:cNvSpPr/>
          <p:nvPr/>
        </p:nvSpPr>
        <p:spPr>
          <a:xfrm>
            <a:off x="5760720" y="2971800"/>
            <a:ext cx="411480" cy="411480"/>
          </a:xfrm>
          <a:prstGeom prst="ellipse">
            <a:avLst/>
          </a:prstGeom>
          <a:solidFill>
            <a:srgbClr val="C9821F"/>
          </a:solidFill>
          <a:ln w="12700">
            <a:solidFill>
              <a:srgbClr val="C9821F"/>
            </a:solidFill>
            <a:prstDash val="solid"/>
          </a:ln>
        </p:spPr>
      </p:sp>
      <p:sp>
        <p:nvSpPr>
          <p:cNvPr id="21" name="Text 19"/>
          <p:cNvSpPr txBox="1"/>
          <p:nvPr/>
        </p:nvSpPr>
        <p:spPr>
          <a:xfrm>
            <a:off x="5760720" y="29718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txBox="1"/>
          <p:nvPr/>
        </p:nvSpPr>
        <p:spPr>
          <a:xfrm>
            <a:off x="6355080" y="2880360"/>
            <a:ext cx="5394960" cy="59436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DRS write-back: can a job register new weights and get a DRS URI back? How?</a:t>
            </a:r>
            <a:endParaRPr lang="en-US" sz="1500" dirty="0"/>
          </a:p>
        </p:txBody>
      </p:sp>
      <p:sp>
        <p:nvSpPr>
          <p:cNvPr id="23" name="Shape 21"/>
          <p:cNvSpPr/>
          <p:nvPr/>
        </p:nvSpPr>
        <p:spPr>
          <a:xfrm>
            <a:off x="5760720" y="3703320"/>
            <a:ext cx="411480" cy="411480"/>
          </a:xfrm>
          <a:prstGeom prst="ellipse">
            <a:avLst/>
          </a:prstGeom>
          <a:solidFill>
            <a:srgbClr val="0E7C7B"/>
          </a:solidFill>
          <a:ln w="12700">
            <a:solidFill>
              <a:srgbClr val="0E7C7B"/>
            </a:solidFill>
            <a:prstDash val="solid"/>
          </a:ln>
        </p:spPr>
      </p:sp>
      <p:sp>
        <p:nvSpPr>
          <p:cNvPr id="24" name="Text 22"/>
          <p:cNvSpPr txBox="1"/>
          <p:nvPr/>
        </p:nvSpPr>
        <p:spPr>
          <a:xfrm>
            <a:off x="5760720" y="37033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txBox="1"/>
          <p:nvPr/>
        </p:nvSpPr>
        <p:spPr>
          <a:xfrm>
            <a:off x="6355080" y="3611880"/>
            <a:ext cx="5394960" cy="59436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Effort to bring up with docker compose on one VM</a:t>
            </a:r>
            <a:endParaRPr lang="en-US" sz="1500" dirty="0"/>
          </a:p>
        </p:txBody>
      </p:sp>
      <p:sp>
        <p:nvSpPr>
          <p:cNvPr id="26" name="Shape 24"/>
          <p:cNvSpPr/>
          <p:nvPr/>
        </p:nvSpPr>
        <p:spPr>
          <a:xfrm>
            <a:off x="5760720" y="4434840"/>
            <a:ext cx="411480" cy="411480"/>
          </a:xfrm>
          <a:prstGeom prst="ellipse">
            <a:avLst/>
          </a:prstGeom>
          <a:solidFill>
            <a:srgbClr val="0E7C7B"/>
          </a:solidFill>
          <a:ln w="12700">
            <a:solidFill>
              <a:srgbClr val="0E7C7B"/>
            </a:solidFill>
            <a:prstDash val="solid"/>
          </a:ln>
        </p:spPr>
      </p:sp>
      <p:sp>
        <p:nvSpPr>
          <p:cNvPr id="27" name="Text 25"/>
          <p:cNvSpPr txBox="1"/>
          <p:nvPr/>
        </p:nvSpPr>
        <p:spPr>
          <a:xfrm>
            <a:off x="5760720" y="44348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6355080" y="4343400"/>
            <a:ext cx="5394960" cy="59436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Maintained? Who do we call when it breaks?</a:t>
            </a:r>
            <a:endParaRPr lang="en-US" sz="1500" dirty="0"/>
          </a:p>
        </p:txBody>
      </p:sp>
      <p:sp>
        <p:nvSpPr>
          <p:cNvPr id="29" name="Shape 27"/>
          <p:cNvSpPr/>
          <p:nvPr/>
        </p:nvSpPr>
        <p:spPr>
          <a:xfrm>
            <a:off x="5760720" y="5166360"/>
            <a:ext cx="411480" cy="411480"/>
          </a:xfrm>
          <a:prstGeom prst="ellipse">
            <a:avLst/>
          </a:prstGeom>
          <a:solidFill>
            <a:srgbClr val="0E7C7B"/>
          </a:solidFill>
          <a:ln w="12700">
            <a:solidFill>
              <a:srgbClr val="0E7C7B"/>
            </a:solidFill>
            <a:prstDash val="solid"/>
          </a:ln>
        </p:spPr>
      </p:sp>
      <p:sp>
        <p:nvSpPr>
          <p:cNvPr id="30" name="Text 28"/>
          <p:cNvSpPr txBox="1"/>
          <p:nvPr/>
        </p:nvSpPr>
        <p:spPr>
          <a:xfrm>
            <a:off x="5760720" y="51663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6355080" y="5074920"/>
            <a:ext cx="5394960" cy="59436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Your recommendation for the node-in-a-box</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Decisions to make today</a:t>
            </a:r>
            <a:endParaRPr lang="en-US" sz="3200" dirty="0"/>
          </a:p>
        </p:txBody>
      </p:sp>
      <p:sp>
        <p:nvSpPr>
          <p:cNvPr id="3" name="Text 1"/>
          <p:cNvSpPr txBox="1"/>
          <p:nvPr/>
        </p:nvSpPr>
        <p:spPr>
          <a:xfrm>
            <a:off x="457200" y="1005840"/>
            <a:ext cx="11277295" cy="41148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Good enough to build on for 10 weeks. If we can’t decide in the room: name an owner and a date, no later than Oct 9.</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7295" cy="914400"/>
        </p:xfrm>
        <a:graphic>
          <a:graphicData uri="http://schemas.openxmlformats.org/drawingml/2006/table">
            <a:tbl>
              <a:tblPr/>
              <a:tblGrid>
                <a:gridCol w="548640"/>
                <a:gridCol w="2194560"/>
                <a:gridCol w="3474720"/>
                <a:gridCol w="5056632"/>
              </a:tblGrid>
              <a:tr h="457200">
                <a:tc>
                  <a:txBody>
                    <a:bodyPr/>
                    <a:lstStyle/>
                    <a:p>
                      <a:pPr indent="0" marL="0">
                        <a:buNone/>
                      </a:pPr>
                      <a:endParaRPr lang="en-US" sz="140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Options</a:t>
                      </a:r>
                      <a:endParaRPr lang="en-US" sz="140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Starting lean</a:t>
                      </a:r>
                      <a:endParaRPr lang="en-US" sz="140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r>
              <a:tr h="777240">
                <a:tc>
                  <a:txBody>
                    <a:bodyPr/>
                    <a:lstStyle/>
                    <a:p>
                      <a:pPr indent="0" marL="0">
                        <a:buNone/>
                      </a:pPr>
                      <a:r>
                        <a:rPr lang="en-US" sz="1350" b="1" dirty="0">
                          <a:solidFill>
                            <a:srgbClr val="C9821F"/>
                          </a:solidFill>
                          <a:latin typeface="Calibri" pitchFamily="34" charset="0"/>
                          <a:ea typeface="Calibri" pitchFamily="34" charset="-122"/>
                          <a:cs typeface="Calibri" pitchFamily="34" charset="-120"/>
                        </a:rPr>
                        <a:t>D1</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b="1" dirty="0">
                          <a:solidFill>
                            <a:srgbClr val="1F2933"/>
                          </a:solidFill>
                          <a:latin typeface="Calibri" pitchFamily="34" charset="0"/>
                          <a:ea typeface="Calibri" pitchFamily="34" charset="-122"/>
                          <a:cs typeface="Calibri" pitchFamily="34" charset="-120"/>
                        </a:rPr>
                        <a:t>FL framework</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Plain FedAvg · Flower · NVIDIA FLARE</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Plain FedAvg or Flower strategy first; with WES/TES carrying rounds, a framework’s own comms go unused. Revisit FLARE later.</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r h="640080">
                <a:tc>
                  <a:txBody>
                    <a:bodyPr/>
                    <a:lstStyle/>
                    <a:p>
                      <a:pPr indent="0" marL="0">
                        <a:buNone/>
                      </a:pPr>
                      <a:r>
                        <a:rPr lang="en-US" sz="1350" b="1" dirty="0">
                          <a:solidFill>
                            <a:srgbClr val="C9821F"/>
                          </a:solidFill>
                          <a:latin typeface="Calibri" pitchFamily="34" charset="0"/>
                          <a:ea typeface="Calibri" pitchFamily="34" charset="-122"/>
                          <a:cs typeface="Calibri" pitchFamily="34" charset="-120"/>
                        </a:rPr>
                        <a:t>D2</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350" b="1" dirty="0">
                          <a:solidFill>
                            <a:srgbClr val="1F2933"/>
                          </a:solidFill>
                          <a:latin typeface="Calibri" pitchFamily="34" charset="0"/>
                          <a:ea typeface="Calibri" pitchFamily="34" charset="-122"/>
                          <a:cs typeface="Calibri" pitchFamily="34" charset="-120"/>
                        </a:rPr>
                        <a:t>Dispatch API</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TES · WES · WES backed by TES</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TES is simplest for one container per round; WES if a maintained implementation is ready</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r>
              <a:tr h="640080">
                <a:tc>
                  <a:txBody>
                    <a:bodyPr/>
                    <a:lstStyle/>
                    <a:p>
                      <a:pPr indent="0" marL="0">
                        <a:buNone/>
                      </a:pPr>
                      <a:r>
                        <a:rPr lang="en-US" sz="1350" b="1" dirty="0">
                          <a:solidFill>
                            <a:srgbClr val="C9821F"/>
                          </a:solidFill>
                          <a:latin typeface="Calibri" pitchFamily="34" charset="0"/>
                          <a:ea typeface="Calibri" pitchFamily="34" charset="-122"/>
                          <a:cs typeface="Calibri" pitchFamily="34" charset="-120"/>
                        </a:rPr>
                        <a:t>D3</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b="1" dirty="0">
                          <a:solidFill>
                            <a:srgbClr val="1F2933"/>
                          </a:solidFill>
                          <a:latin typeface="Calibri" pitchFamily="34" charset="0"/>
                          <a:ea typeface="Calibri" pitchFamily="34" charset="-122"/>
                          <a:cs typeface="Calibri" pitchFamily="34" charset="-120"/>
                        </a:rPr>
                        <a:t>DRS implementation</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Syfon · Reference Cloud · Starter Kit</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Whichever supports write-back today with the least custom code</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r h="640080">
                <a:tc>
                  <a:txBody>
                    <a:bodyPr/>
                    <a:lstStyle/>
                    <a:p>
                      <a:pPr indent="0" marL="0">
                        <a:buNone/>
                      </a:pPr>
                      <a:r>
                        <a:rPr lang="en-US" sz="1350" b="1" dirty="0">
                          <a:solidFill>
                            <a:srgbClr val="C9821F"/>
                          </a:solidFill>
                          <a:latin typeface="Calibri" pitchFamily="34" charset="0"/>
                          <a:ea typeface="Calibri" pitchFamily="34" charset="-122"/>
                          <a:cs typeface="Calibri" pitchFamily="34" charset="-120"/>
                        </a:rPr>
                        <a:t>D4</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350" b="1" dirty="0">
                          <a:solidFill>
                            <a:srgbClr val="1F2933"/>
                          </a:solidFill>
                          <a:latin typeface="Calibri" pitchFamily="34" charset="0"/>
                          <a:ea typeface="Calibri" pitchFamily="34" charset="-122"/>
                          <a:cs typeface="Calibri" pitchFamily="34" charset="-120"/>
                        </a:rPr>
                        <a:t>WES/TES implementation</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Funnel · Starter Kit WES · proWES / TESK</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From the readouts</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r>
              <a:tr h="640080">
                <a:tc>
                  <a:txBody>
                    <a:bodyPr/>
                    <a:lstStyle/>
                    <a:p>
                      <a:pPr indent="0" marL="0">
                        <a:buNone/>
                      </a:pPr>
                      <a:r>
                        <a:rPr lang="en-US" sz="1350" b="1" dirty="0">
                          <a:solidFill>
                            <a:srgbClr val="C9821F"/>
                          </a:solidFill>
                          <a:latin typeface="Calibri" pitchFamily="34" charset="0"/>
                          <a:ea typeface="Calibri" pitchFamily="34" charset="-122"/>
                          <a:cs typeface="Calibri" pitchFamily="34" charset="-120"/>
                        </a:rPr>
                        <a:t>D5</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b="1" dirty="0">
                          <a:solidFill>
                            <a:srgbClr val="1F2933"/>
                          </a:solidFill>
                          <a:latin typeface="Calibri" pitchFamily="34" charset="0"/>
                          <a:ea typeface="Calibri" pitchFamily="34" charset="-122"/>
                          <a:cs typeface="Calibri" pitchFamily="34" charset="-120"/>
                        </a:rPr>
                        <a:t>Auth for M2–M3</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Static bearer tokens · Passports now</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350" dirty="0">
                          <a:solidFill>
                            <a:srgbClr val="1F2933"/>
                          </a:solidFill>
                          <a:latin typeface="Calibri" pitchFamily="34" charset="0"/>
                          <a:ea typeface="Calibri" pitchFamily="34" charset="-122"/>
                          <a:cs typeface="Calibri" pitchFamily="34" charset="-120"/>
                        </a:rPr>
                        <a:t>Static tokens; Passports after M3</a:t>
                      </a:r>
                      <a:endParaRPr lang="en-US" sz="1350" dirty="0">
                        <a:latin typeface="Calibri" charset="0"/>
                        <a:ea typeface="Calibri" charset="0"/>
                        <a:cs typeface="Calibri" charset="0"/>
                      </a:endParaRPr>
                    </a:p>
                  </a:txBody>
                  <a:tcPr marL="109728" marR="109728"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bl>
          </a:graphicData>
        </a:graphic>
      </p:graphicFrame>
      <p:sp>
        <p:nvSpPr>
          <p:cNvPr id="5" name="Text 2"/>
          <p:cNvSpPr txBox="1"/>
          <p:nvPr/>
        </p:nvSpPr>
        <p:spPr>
          <a:xfrm>
            <a:off x="457200" y="5852160"/>
            <a:ext cx="11277295" cy="365760"/>
          </a:xfrm>
          <a:prstGeom prst="rect">
            <a:avLst/>
          </a:prstGeom>
          <a:noFill/>
          <a:ln/>
        </p:spPr>
        <p:txBody>
          <a:bodyPr wrap="square" lIns="0" tIns="0" rIns="0" bIns="0" rtlCol="0" anchor="ctr"/>
          <a:lstStyle/>
          <a:p>
            <a:pPr indent="0" marL="0">
              <a:buNone/>
            </a:pPr>
            <a:r>
              <a:rPr lang="en-US" sz="1300" i="1" dirty="0">
                <a:solidFill>
                  <a:srgbClr val="5B6770"/>
                </a:solidFill>
                <a:latin typeface="Calibri" pitchFamily="34" charset="0"/>
                <a:ea typeface="Calibri" pitchFamily="34" charset="-122"/>
                <a:cs typeface="Calibri" pitchFamily="34" charset="-120"/>
              </a:rPr>
              <a:t>Later, from the site survey: D6 push vs. pull network model · D7 partition count and ancestry skew</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Four tracks, 80 minutes</a:t>
            </a:r>
            <a:endParaRPr lang="en-US" sz="3200" dirty="0"/>
          </a:p>
        </p:txBody>
      </p:sp>
      <p:sp>
        <p:nvSpPr>
          <p:cNvPr id="3" name="Text 1"/>
          <p:cNvSpPr txBox="1"/>
          <p:nvPr/>
        </p:nvSpPr>
        <p:spPr>
          <a:xfrm>
            <a:off x="457200" y="1005840"/>
            <a:ext cx="11277295" cy="41148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In person: sit at the track table. Virtual: join the track breakout room. Post progress in the track issue.</a:t>
            </a:r>
            <a:endParaRPr lang="en-US" sz="1500" dirty="0"/>
          </a:p>
        </p:txBody>
      </p:sp>
      <p:sp>
        <p:nvSpPr>
          <p:cNvPr id="4" name="Shape 2"/>
          <p:cNvSpPr/>
          <p:nvPr/>
        </p:nvSpPr>
        <p:spPr>
          <a:xfrm>
            <a:off x="457200" y="1691640"/>
            <a:ext cx="2697480" cy="4343400"/>
          </a:xfrm>
          <a:prstGeom prst="roundRect">
            <a:avLst>
              <a:gd name="adj" fmla="val 3390"/>
            </a:avLst>
          </a:prstGeom>
          <a:solidFill>
            <a:srgbClr val="F2F5F6"/>
          </a:solidFill>
          <a:ln w="12700">
            <a:solidFill>
              <a:srgbClr val="F2F5F6"/>
            </a:solidFill>
            <a:prstDash val="solid"/>
          </a:ln>
        </p:spPr>
      </p:sp>
      <p:sp>
        <p:nvSpPr>
          <p:cNvPr id="5" name="Shape 3"/>
          <p:cNvSpPr/>
          <p:nvPr/>
        </p:nvSpPr>
        <p:spPr>
          <a:xfrm>
            <a:off x="685800" y="1920240"/>
            <a:ext cx="594360" cy="594360"/>
          </a:xfrm>
          <a:prstGeom prst="ellipse">
            <a:avLst/>
          </a:prstGeom>
          <a:solidFill>
            <a:srgbClr val="0E7C7B"/>
          </a:solidFill>
          <a:ln w="12700">
            <a:solidFill>
              <a:srgbClr val="0E7C7B"/>
            </a:solidFill>
            <a:prstDash val="solid"/>
          </a:ln>
        </p:spPr>
      </p:sp>
      <p:sp>
        <p:nvSpPr>
          <p:cNvPr id="6" name="Text 4"/>
          <p:cNvSpPr txBox="1"/>
          <p:nvPr/>
        </p:nvSpPr>
        <p:spPr>
          <a:xfrm>
            <a:off x="685800" y="19202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7" name="Text 5"/>
          <p:cNvSpPr txBox="1"/>
          <p:nvPr/>
        </p:nvSpPr>
        <p:spPr>
          <a:xfrm>
            <a:off x="1417320" y="1920240"/>
            <a:ext cx="1600200" cy="59436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Science</a:t>
            </a:r>
            <a:endParaRPr lang="en-US" sz="1900" dirty="0"/>
          </a:p>
        </p:txBody>
      </p:sp>
      <p:sp>
        <p:nvSpPr>
          <p:cNvPr id="8" name="Text 6"/>
          <p:cNvSpPr txBox="1"/>
          <p:nvPr/>
        </p:nvSpPr>
        <p:spPr>
          <a:xfrm>
            <a:off x="685800" y="2697480"/>
            <a:ext cx="2331720" cy="365760"/>
          </a:xfrm>
          <a:prstGeom prst="rect">
            <a:avLst/>
          </a:prstGeom>
          <a:noFill/>
          <a:ln/>
        </p:spPr>
        <p:txBody>
          <a:bodyPr wrap="square" lIns="0" tIns="0" rIns="0" bIns="0" rtlCol="0" anchor="ctr"/>
          <a:lstStyle/>
          <a:p>
            <a:pPr indent="0" marL="0">
              <a:buNone/>
            </a:pPr>
            <a:r>
              <a:rPr lang="en-US" sz="1300" b="1" dirty="0">
                <a:solidFill>
                  <a:srgbClr val="C9821F"/>
                </a:solidFill>
                <a:latin typeface="Calibri" pitchFamily="34" charset="0"/>
                <a:ea typeface="Calibri" pitchFamily="34" charset="-122"/>
                <a:cs typeface="Calibri" pitchFamily="34" charset="-120"/>
              </a:rPr>
              <a:t>Lead: needed</a:t>
            </a:r>
            <a:endParaRPr lang="en-US" sz="1300" dirty="0"/>
          </a:p>
        </p:txBody>
      </p:sp>
      <p:sp>
        <p:nvSpPr>
          <p:cNvPr id="9" name="Text 7"/>
          <p:cNvSpPr txBox="1"/>
          <p:nvPr/>
        </p:nvSpPr>
        <p:spPr>
          <a:xfrm>
            <a:off x="685800" y="3154680"/>
            <a:ext cx="2331720" cy="146304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Goal</a:t>
            </a:r>
            <a:endParaRPr lang="en-US" sz="1200" dirty="0"/>
          </a:p>
          <a:p>
            <a:pPr indent="0" marL="0">
              <a:buNone/>
            </a:pPr>
            <a:r>
              <a:rPr lang="en-US" sz="1400" dirty="0">
                <a:solidFill>
                  <a:srgbClr val="1F2933"/>
                </a:solidFill>
                <a:latin typeface="Calibri" pitchFamily="34" charset="0"/>
                <a:ea typeface="Calibri" pitchFamily="34" charset="-122"/>
                <a:cs typeface="Calibri" pitchFamily="34" charset="-120"/>
              </a:rPr>
              <a:t>FedLearnVar running; first synthetic partitions</a:t>
            </a:r>
            <a:endParaRPr lang="en-US" sz="1200" dirty="0"/>
          </a:p>
        </p:txBody>
      </p:sp>
      <p:sp>
        <p:nvSpPr>
          <p:cNvPr id="10" name="Text 8"/>
          <p:cNvSpPr txBox="1"/>
          <p:nvPr/>
        </p:nvSpPr>
        <p:spPr>
          <a:xfrm>
            <a:off x="685800" y="4709160"/>
            <a:ext cx="2331720" cy="11887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Who should join</a:t>
            </a:r>
            <a:endParaRPr lang="en-US" sz="1200" dirty="0"/>
          </a:p>
          <a:p>
            <a:pPr indent="0" marL="0">
              <a:buNone/>
            </a:pPr>
            <a:r>
              <a:rPr lang="en-US" sz="1400" dirty="0">
                <a:solidFill>
                  <a:srgbClr val="1F2933"/>
                </a:solidFill>
                <a:latin typeface="Calibri" pitchFamily="34" charset="0"/>
                <a:ea typeface="Calibri" pitchFamily="34" charset="-122"/>
                <a:cs typeface="Calibri" pitchFamily="34" charset="-120"/>
              </a:rPr>
              <a:t>Python, PyTorch, ML, stat gen</a:t>
            </a:r>
            <a:endParaRPr lang="en-US" sz="1200" dirty="0"/>
          </a:p>
        </p:txBody>
      </p:sp>
      <p:sp>
        <p:nvSpPr>
          <p:cNvPr id="11" name="Shape 9"/>
          <p:cNvSpPr/>
          <p:nvPr/>
        </p:nvSpPr>
        <p:spPr>
          <a:xfrm>
            <a:off x="3319272" y="1691640"/>
            <a:ext cx="2697480" cy="4343400"/>
          </a:xfrm>
          <a:prstGeom prst="roundRect">
            <a:avLst>
              <a:gd name="adj" fmla="val 3390"/>
            </a:avLst>
          </a:prstGeom>
          <a:solidFill>
            <a:srgbClr val="F2F5F6"/>
          </a:solidFill>
          <a:ln w="12700">
            <a:solidFill>
              <a:srgbClr val="F2F5F6"/>
            </a:solidFill>
            <a:prstDash val="solid"/>
          </a:ln>
        </p:spPr>
      </p:sp>
      <p:sp>
        <p:nvSpPr>
          <p:cNvPr id="12" name="Shape 10"/>
          <p:cNvSpPr/>
          <p:nvPr/>
        </p:nvSpPr>
        <p:spPr>
          <a:xfrm>
            <a:off x="3547872" y="1920240"/>
            <a:ext cx="594360" cy="594360"/>
          </a:xfrm>
          <a:prstGeom prst="ellipse">
            <a:avLst/>
          </a:prstGeom>
          <a:solidFill>
            <a:srgbClr val="0E7C7B"/>
          </a:solidFill>
          <a:ln w="12700">
            <a:solidFill>
              <a:srgbClr val="0E7C7B"/>
            </a:solidFill>
            <a:prstDash val="solid"/>
          </a:ln>
        </p:spPr>
      </p:sp>
      <p:sp>
        <p:nvSpPr>
          <p:cNvPr id="13" name="Text 11"/>
          <p:cNvSpPr txBox="1"/>
          <p:nvPr/>
        </p:nvSpPr>
        <p:spPr>
          <a:xfrm>
            <a:off x="3547872" y="19202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a:t>
            </a:r>
            <a:endParaRPr lang="en-US" sz="2200" dirty="0"/>
          </a:p>
        </p:txBody>
      </p:sp>
      <p:sp>
        <p:nvSpPr>
          <p:cNvPr id="14" name="Text 12"/>
          <p:cNvSpPr txBox="1"/>
          <p:nvPr/>
        </p:nvSpPr>
        <p:spPr>
          <a:xfrm>
            <a:off x="4279392" y="1920240"/>
            <a:ext cx="1600200" cy="59436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Node-in-a-box</a:t>
            </a:r>
            <a:endParaRPr lang="en-US" sz="1900" dirty="0"/>
          </a:p>
        </p:txBody>
      </p:sp>
      <p:sp>
        <p:nvSpPr>
          <p:cNvPr id="15" name="Text 13"/>
          <p:cNvSpPr txBox="1"/>
          <p:nvPr/>
        </p:nvSpPr>
        <p:spPr>
          <a:xfrm>
            <a:off x="3547872" y="2697480"/>
            <a:ext cx="2331720" cy="365760"/>
          </a:xfrm>
          <a:prstGeom prst="rect">
            <a:avLst/>
          </a:prstGeom>
          <a:noFill/>
          <a:ln/>
        </p:spPr>
        <p:txBody>
          <a:bodyPr wrap="square" lIns="0" tIns="0" rIns="0" bIns="0" rtlCol="0" anchor="ctr"/>
          <a:lstStyle/>
          <a:p>
            <a:pPr indent="0" marL="0">
              <a:buNone/>
            </a:pPr>
            <a:r>
              <a:rPr lang="en-US" sz="1300" b="1" dirty="0">
                <a:solidFill>
                  <a:srgbClr val="0A5857"/>
                </a:solidFill>
                <a:latin typeface="Calibri" pitchFamily="34" charset="0"/>
                <a:ea typeface="Calibri" pitchFamily="34" charset="-122"/>
                <a:cs typeface="Calibri" pitchFamily="34" charset="-120"/>
              </a:rPr>
              <a:t>Lead: Kyle (proposed)</a:t>
            </a:r>
            <a:endParaRPr lang="en-US" sz="1300" dirty="0"/>
          </a:p>
        </p:txBody>
      </p:sp>
      <p:sp>
        <p:nvSpPr>
          <p:cNvPr id="16" name="Text 14"/>
          <p:cNvSpPr txBox="1"/>
          <p:nvPr/>
        </p:nvSpPr>
        <p:spPr>
          <a:xfrm>
            <a:off x="3547872" y="3154680"/>
            <a:ext cx="2331720" cy="146304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Goal</a:t>
            </a:r>
            <a:endParaRPr lang="en-US" sz="1200" dirty="0"/>
          </a:p>
          <a:p>
            <a:pPr indent="0" marL="0">
              <a:buNone/>
            </a:pPr>
            <a:r>
              <a:rPr lang="en-US" sz="1400" dirty="0">
                <a:solidFill>
                  <a:srgbClr val="1F2933"/>
                </a:solidFill>
                <a:latin typeface="Calibri" pitchFamily="34" charset="0"/>
                <a:ea typeface="Calibri" pitchFamily="34" charset="-122"/>
                <a:cs typeface="Calibri" pitchFamily="34" charset="-120"/>
              </a:rPr>
              <a:t>compose with DRS + TES/WES; the write-back round trip</a:t>
            </a:r>
            <a:endParaRPr lang="en-US" sz="1200" dirty="0"/>
          </a:p>
        </p:txBody>
      </p:sp>
      <p:sp>
        <p:nvSpPr>
          <p:cNvPr id="17" name="Text 15"/>
          <p:cNvSpPr txBox="1"/>
          <p:nvPr/>
        </p:nvSpPr>
        <p:spPr>
          <a:xfrm>
            <a:off x="3547872" y="4709160"/>
            <a:ext cx="2331720" cy="11887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Who should join</a:t>
            </a:r>
            <a:endParaRPr lang="en-US" sz="1200" dirty="0"/>
          </a:p>
          <a:p>
            <a:pPr indent="0" marL="0">
              <a:buNone/>
            </a:pPr>
            <a:r>
              <a:rPr lang="en-US" sz="1400" dirty="0">
                <a:solidFill>
                  <a:srgbClr val="1F2933"/>
                </a:solidFill>
                <a:latin typeface="Calibri" pitchFamily="34" charset="0"/>
                <a:ea typeface="Calibri" pitchFamily="34" charset="-122"/>
                <a:cs typeface="Calibri" pitchFamily="34" charset="-120"/>
              </a:rPr>
              <a:t>Implementers, infra</a:t>
            </a:r>
            <a:endParaRPr lang="en-US" sz="1200" dirty="0"/>
          </a:p>
        </p:txBody>
      </p:sp>
      <p:sp>
        <p:nvSpPr>
          <p:cNvPr id="18" name="Shape 16"/>
          <p:cNvSpPr/>
          <p:nvPr/>
        </p:nvSpPr>
        <p:spPr>
          <a:xfrm>
            <a:off x="6181344" y="1691640"/>
            <a:ext cx="2697480" cy="4343400"/>
          </a:xfrm>
          <a:prstGeom prst="roundRect">
            <a:avLst>
              <a:gd name="adj" fmla="val 3390"/>
            </a:avLst>
          </a:prstGeom>
          <a:solidFill>
            <a:srgbClr val="F2F5F6"/>
          </a:solidFill>
          <a:ln w="12700">
            <a:solidFill>
              <a:srgbClr val="F2F5F6"/>
            </a:solidFill>
            <a:prstDash val="solid"/>
          </a:ln>
        </p:spPr>
      </p:sp>
      <p:sp>
        <p:nvSpPr>
          <p:cNvPr id="19" name="Shape 17"/>
          <p:cNvSpPr/>
          <p:nvPr/>
        </p:nvSpPr>
        <p:spPr>
          <a:xfrm>
            <a:off x="6409944" y="1920240"/>
            <a:ext cx="594360" cy="594360"/>
          </a:xfrm>
          <a:prstGeom prst="ellipse">
            <a:avLst/>
          </a:prstGeom>
          <a:solidFill>
            <a:srgbClr val="0E7C7B"/>
          </a:solidFill>
          <a:ln w="12700">
            <a:solidFill>
              <a:srgbClr val="0E7C7B"/>
            </a:solidFill>
            <a:prstDash val="solid"/>
          </a:ln>
        </p:spPr>
      </p:sp>
      <p:sp>
        <p:nvSpPr>
          <p:cNvPr id="20" name="Text 18"/>
          <p:cNvSpPr txBox="1"/>
          <p:nvPr/>
        </p:nvSpPr>
        <p:spPr>
          <a:xfrm>
            <a:off x="6409944" y="19202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a:t>
            </a:r>
            <a:endParaRPr lang="en-US" sz="2200" dirty="0"/>
          </a:p>
        </p:txBody>
      </p:sp>
      <p:sp>
        <p:nvSpPr>
          <p:cNvPr id="21" name="Text 19"/>
          <p:cNvSpPr txBox="1"/>
          <p:nvPr/>
        </p:nvSpPr>
        <p:spPr>
          <a:xfrm>
            <a:off x="7141464" y="1920240"/>
            <a:ext cx="1600200" cy="59436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Coordinator</a:t>
            </a:r>
            <a:endParaRPr lang="en-US" sz="1900" dirty="0"/>
          </a:p>
        </p:txBody>
      </p:sp>
      <p:sp>
        <p:nvSpPr>
          <p:cNvPr id="22" name="Text 20"/>
          <p:cNvSpPr txBox="1"/>
          <p:nvPr/>
        </p:nvSpPr>
        <p:spPr>
          <a:xfrm>
            <a:off x="6409944" y="2697480"/>
            <a:ext cx="2331720" cy="365760"/>
          </a:xfrm>
          <a:prstGeom prst="rect">
            <a:avLst/>
          </a:prstGeom>
          <a:noFill/>
          <a:ln/>
        </p:spPr>
        <p:txBody>
          <a:bodyPr wrap="square" lIns="0" tIns="0" rIns="0" bIns="0" rtlCol="0" anchor="ctr"/>
          <a:lstStyle/>
          <a:p>
            <a:pPr indent="0" marL="0">
              <a:buNone/>
            </a:pPr>
            <a:r>
              <a:rPr lang="en-US" sz="1300" b="1" dirty="0">
                <a:solidFill>
                  <a:srgbClr val="0A5857"/>
                </a:solidFill>
                <a:latin typeface="Calibri" pitchFamily="34" charset="0"/>
                <a:ea typeface="Calibri" pitchFamily="34" charset="-122"/>
                <a:cs typeface="Calibri" pitchFamily="34" charset="-120"/>
              </a:rPr>
              <a:t>Lead: Venkat</a:t>
            </a:r>
            <a:endParaRPr lang="en-US" sz="1300" dirty="0"/>
          </a:p>
        </p:txBody>
      </p:sp>
      <p:sp>
        <p:nvSpPr>
          <p:cNvPr id="23" name="Text 21"/>
          <p:cNvSpPr txBox="1"/>
          <p:nvPr/>
        </p:nvSpPr>
        <p:spPr>
          <a:xfrm>
            <a:off x="6409944" y="3154680"/>
            <a:ext cx="2331720" cy="146304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Goal</a:t>
            </a:r>
            <a:endParaRPr lang="en-US" sz="1200" dirty="0"/>
          </a:p>
          <a:p>
            <a:pPr indent="0" marL="0">
              <a:buNone/>
            </a:pPr>
            <a:r>
              <a:rPr lang="en-US" sz="1400" dirty="0">
                <a:solidFill>
                  <a:srgbClr val="1F2933"/>
                </a:solidFill>
                <a:latin typeface="Calibri" pitchFamily="34" charset="0"/>
                <a:ea typeface="Calibri" pitchFamily="34" charset="-122"/>
                <a:cs typeface="Calibri" pitchFamily="34" charset="-120"/>
              </a:rPr>
              <a:t>FedAvg loop where client training is a WES/TES submission</a:t>
            </a:r>
            <a:endParaRPr lang="en-US" sz="1200" dirty="0"/>
          </a:p>
        </p:txBody>
      </p:sp>
      <p:sp>
        <p:nvSpPr>
          <p:cNvPr id="24" name="Text 22"/>
          <p:cNvSpPr txBox="1"/>
          <p:nvPr/>
        </p:nvSpPr>
        <p:spPr>
          <a:xfrm>
            <a:off x="6409944" y="4709160"/>
            <a:ext cx="2331720" cy="11887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Who should join</a:t>
            </a:r>
            <a:endParaRPr lang="en-US" sz="1200" dirty="0"/>
          </a:p>
          <a:p>
            <a:pPr indent="0" marL="0">
              <a:buNone/>
            </a:pPr>
            <a:r>
              <a:rPr lang="en-US" sz="1400" dirty="0">
                <a:solidFill>
                  <a:srgbClr val="1F2933"/>
                </a:solidFill>
                <a:latin typeface="Calibri" pitchFamily="34" charset="0"/>
                <a:ea typeface="Calibri" pitchFamily="34" charset="-122"/>
                <a:cs typeface="Calibri" pitchFamily="34" charset="-120"/>
              </a:rPr>
              <a:t>Python devs, Flower/FLARE users</a:t>
            </a:r>
            <a:endParaRPr lang="en-US" sz="1200" dirty="0"/>
          </a:p>
        </p:txBody>
      </p:sp>
      <p:sp>
        <p:nvSpPr>
          <p:cNvPr id="25" name="Shape 23"/>
          <p:cNvSpPr/>
          <p:nvPr/>
        </p:nvSpPr>
        <p:spPr>
          <a:xfrm>
            <a:off x="9043416" y="1691640"/>
            <a:ext cx="2697480" cy="4343400"/>
          </a:xfrm>
          <a:prstGeom prst="roundRect">
            <a:avLst>
              <a:gd name="adj" fmla="val 3390"/>
            </a:avLst>
          </a:prstGeom>
          <a:solidFill>
            <a:srgbClr val="FCEBD2"/>
          </a:solidFill>
          <a:ln w="12700">
            <a:solidFill>
              <a:srgbClr val="FCEBD2"/>
            </a:solidFill>
            <a:prstDash val="solid"/>
          </a:ln>
        </p:spPr>
      </p:sp>
      <p:sp>
        <p:nvSpPr>
          <p:cNvPr id="26" name="Shape 24"/>
          <p:cNvSpPr/>
          <p:nvPr/>
        </p:nvSpPr>
        <p:spPr>
          <a:xfrm>
            <a:off x="9272016" y="1920240"/>
            <a:ext cx="594360" cy="594360"/>
          </a:xfrm>
          <a:prstGeom prst="ellipse">
            <a:avLst/>
          </a:prstGeom>
          <a:solidFill>
            <a:srgbClr val="C9821F"/>
          </a:solidFill>
          <a:ln w="12700">
            <a:solidFill>
              <a:srgbClr val="C9821F"/>
            </a:solidFill>
            <a:prstDash val="solid"/>
          </a:ln>
        </p:spPr>
      </p:sp>
      <p:sp>
        <p:nvSpPr>
          <p:cNvPr id="27" name="Text 25"/>
          <p:cNvSpPr txBox="1"/>
          <p:nvPr/>
        </p:nvSpPr>
        <p:spPr>
          <a:xfrm>
            <a:off x="9272016" y="192024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a:t>
            </a:r>
            <a:endParaRPr lang="en-US" sz="2200" dirty="0"/>
          </a:p>
        </p:txBody>
      </p:sp>
      <p:sp>
        <p:nvSpPr>
          <p:cNvPr id="28" name="Text 26"/>
          <p:cNvSpPr txBox="1"/>
          <p:nvPr/>
        </p:nvSpPr>
        <p:spPr>
          <a:xfrm>
            <a:off x="10003536" y="1920240"/>
            <a:ext cx="1600200" cy="594360"/>
          </a:xfrm>
          <a:prstGeom prst="rect">
            <a:avLst/>
          </a:prstGeom>
          <a:noFill/>
          <a:ln/>
        </p:spPr>
        <p:txBody>
          <a:bodyPr wrap="square" lIns="0" tIns="0" rIns="0" bIns="0" rtlCol="0" anchor="ctr"/>
          <a:lstStyle/>
          <a:p>
            <a:pPr indent="0" marL="0">
              <a:buNone/>
            </a:pPr>
            <a:r>
              <a:rPr lang="en-US" sz="1900" b="1" dirty="0">
                <a:solidFill>
                  <a:srgbClr val="1F2933"/>
                </a:solidFill>
                <a:latin typeface="Calibri" pitchFamily="34" charset="0"/>
                <a:ea typeface="Calibri" pitchFamily="34" charset="-122"/>
                <a:cs typeface="Calibri" pitchFamily="34" charset="-120"/>
              </a:rPr>
              <a:t>Driver sites</a:t>
            </a:r>
            <a:endParaRPr lang="en-US" sz="1900" dirty="0"/>
          </a:p>
        </p:txBody>
      </p:sp>
      <p:sp>
        <p:nvSpPr>
          <p:cNvPr id="29" name="Text 27"/>
          <p:cNvSpPr txBox="1"/>
          <p:nvPr/>
        </p:nvSpPr>
        <p:spPr>
          <a:xfrm>
            <a:off x="9272016" y="2697480"/>
            <a:ext cx="2331720" cy="365760"/>
          </a:xfrm>
          <a:prstGeom prst="rect">
            <a:avLst/>
          </a:prstGeom>
          <a:noFill/>
          <a:ln/>
        </p:spPr>
        <p:txBody>
          <a:bodyPr wrap="square" lIns="0" tIns="0" rIns="0" bIns="0" rtlCol="0" anchor="ctr"/>
          <a:lstStyle/>
          <a:p>
            <a:pPr indent="0" marL="0">
              <a:buNone/>
            </a:pPr>
            <a:r>
              <a:rPr lang="en-US" sz="1300" b="1" dirty="0">
                <a:solidFill>
                  <a:srgbClr val="0A5857"/>
                </a:solidFill>
                <a:latin typeface="Calibri" pitchFamily="34" charset="0"/>
                <a:ea typeface="Calibri" pitchFamily="34" charset="-122"/>
                <a:cs typeface="Calibri" pitchFamily="34" charset="-120"/>
              </a:rPr>
              <a:t>Lead: Brian</a:t>
            </a:r>
            <a:endParaRPr lang="en-US" sz="1300" dirty="0"/>
          </a:p>
        </p:txBody>
      </p:sp>
      <p:sp>
        <p:nvSpPr>
          <p:cNvPr id="30" name="Text 28"/>
          <p:cNvSpPr txBox="1"/>
          <p:nvPr/>
        </p:nvSpPr>
        <p:spPr>
          <a:xfrm>
            <a:off x="9272016" y="3154680"/>
            <a:ext cx="2331720" cy="146304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Goal</a:t>
            </a:r>
            <a:endParaRPr lang="en-US" sz="1200" dirty="0"/>
          </a:p>
          <a:p>
            <a:pPr indent="0" marL="0">
              <a:buNone/>
            </a:pPr>
            <a:r>
              <a:rPr lang="en-US" sz="1400" dirty="0">
                <a:solidFill>
                  <a:srgbClr val="1F2933"/>
                </a:solidFill>
                <a:latin typeface="Calibri" pitchFamily="34" charset="0"/>
                <a:ea typeface="Calibri" pitchFamily="34" charset="-122"/>
                <a:cs typeface="Calibri" pitchFamily="34" charset="-120"/>
              </a:rPr>
              <a:t>Readiness survey for every Driver Project in the room</a:t>
            </a:r>
            <a:endParaRPr lang="en-US" sz="1200" dirty="0"/>
          </a:p>
        </p:txBody>
      </p:sp>
      <p:sp>
        <p:nvSpPr>
          <p:cNvPr id="31" name="Text 29"/>
          <p:cNvSpPr txBox="1"/>
          <p:nvPr/>
        </p:nvSpPr>
        <p:spPr>
          <a:xfrm>
            <a:off x="9272016" y="4709160"/>
            <a:ext cx="2331720" cy="1188720"/>
          </a:xfrm>
          <a:prstGeom prst="rect">
            <a:avLst/>
          </a:prstGeom>
          <a:noFill/>
          <a:ln/>
        </p:spPr>
        <p:txBody>
          <a:bodyPr wrap="square" lIns="0" tIns="0" rIns="0" bIns="0" rtlCol="0" anchor="t"/>
          <a:lstStyle/>
          <a:p>
            <a:pPr indent="0" marL="0">
              <a:buNone/>
            </a:pPr>
            <a:r>
              <a:rPr lang="en-US" sz="1200" b="1" dirty="0">
                <a:solidFill>
                  <a:srgbClr val="5B6770"/>
                </a:solidFill>
                <a:latin typeface="Calibri" pitchFamily="34" charset="0"/>
                <a:ea typeface="Calibri" pitchFamily="34" charset="-122"/>
                <a:cs typeface="Calibri" pitchFamily="34" charset="-120"/>
              </a:rPr>
              <a:t>Who should join</a:t>
            </a:r>
            <a:endParaRPr lang="en-US" sz="1200" dirty="0"/>
          </a:p>
          <a:p>
            <a:pPr indent="0" marL="0">
              <a:buNone/>
            </a:pPr>
            <a:r>
              <a:rPr lang="en-US" sz="1400" dirty="0">
                <a:solidFill>
                  <a:srgbClr val="1F2933"/>
                </a:solidFill>
                <a:latin typeface="Calibri" pitchFamily="34" charset="0"/>
                <a:ea typeface="Calibri" pitchFamily="34" charset="-122"/>
                <a:cs typeface="Calibri" pitchFamily="34" charset="-120"/>
              </a:rPr>
              <a:t>Driver Project reps (no coding needed)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85800" cy="685800"/>
          </a:xfrm>
          <a:prstGeom prst="ellipse">
            <a:avLst/>
          </a:prstGeom>
          <a:solidFill>
            <a:srgbClr val="0E7C7B"/>
          </a:solidFill>
          <a:ln w="12700">
            <a:solidFill>
              <a:srgbClr val="0E7C7B"/>
            </a:solidFill>
            <a:prstDash val="solid"/>
          </a:ln>
        </p:spPr>
      </p:sp>
      <p:sp>
        <p:nvSpPr>
          <p:cNvPr id="3" name="Text 1"/>
          <p:cNvSpPr txBox="1"/>
          <p:nvPr/>
        </p:nvSpPr>
        <p:spPr>
          <a:xfrm>
            <a:off x="457200" y="38404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4" name="Text 2"/>
          <p:cNvSpPr txBox="1"/>
          <p:nvPr/>
        </p:nvSpPr>
        <p:spPr>
          <a:xfrm>
            <a:off x="1325880" y="320040"/>
            <a:ext cx="8229600" cy="82296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Track A: Science</a:t>
            </a:r>
            <a:endParaRPr lang="en-US" sz="3200" dirty="0"/>
          </a:p>
        </p:txBody>
      </p:sp>
      <p:sp>
        <p:nvSpPr>
          <p:cNvPr id="5" name="Text 3"/>
          <p:cNvSpPr txBox="1"/>
          <p:nvPr/>
        </p:nvSpPr>
        <p:spPr>
          <a:xfrm>
            <a:off x="8686800" y="457200"/>
            <a:ext cx="3044952" cy="548640"/>
          </a:xfrm>
          <a:prstGeom prst="rect">
            <a:avLst/>
          </a:prstGeom>
          <a:noFill/>
          <a:ln/>
        </p:spPr>
        <p:txBody>
          <a:bodyPr wrap="square" lIns="0" tIns="0" rIns="0" bIns="0" rtlCol="0" anchor="ctr"/>
          <a:lstStyle/>
          <a:p>
            <a:pPr algn="r" indent="0" marL="0">
              <a:buNone/>
            </a:pPr>
            <a:r>
              <a:rPr lang="en-US" sz="1500" b="1" dirty="0">
                <a:solidFill>
                  <a:srgbClr val="C9821F"/>
                </a:solidFill>
                <a:latin typeface="Calibri" pitchFamily="34" charset="0"/>
                <a:ea typeface="Calibri" pitchFamily="34" charset="-122"/>
                <a:cs typeface="Calibri" pitchFamily="34" charset="-120"/>
              </a:rPr>
              <a:t>Lead: needed</a:t>
            </a:r>
            <a:endParaRPr lang="en-US" sz="1500" dirty="0"/>
          </a:p>
        </p:txBody>
      </p:sp>
      <p:sp>
        <p:nvSpPr>
          <p:cNvPr id="6" name="Text 4"/>
          <p:cNvSpPr txBox="1"/>
          <p:nvPr/>
        </p:nvSpPr>
        <p:spPr>
          <a:xfrm>
            <a:off x="457200" y="1325880"/>
            <a:ext cx="11277295" cy="548640"/>
          </a:xfrm>
          <a:prstGeom prst="rect">
            <a:avLst/>
          </a:prstGeom>
          <a:noFill/>
          <a:ln/>
        </p:spPr>
        <p:txBody>
          <a:bodyPr wrap="square" lIns="0" tIns="0" rIns="0" bIns="0" rtlCol="0" anchor="ctr"/>
          <a:lstStyle/>
          <a:p>
            <a:pPr indent="0" marL="0">
              <a:buNone/>
            </a:pPr>
            <a:r>
              <a:rPr lang="en-US" sz="1800" i="1" dirty="0">
                <a:solidFill>
                  <a:srgbClr val="1F2933"/>
                </a:solidFill>
                <a:latin typeface="Calibri" pitchFamily="34" charset="0"/>
                <a:ea typeface="Calibri" pitchFamily="34" charset="-122"/>
                <a:cs typeface="Calibri" pitchFamily="34" charset="-120"/>
              </a:rPr>
              <a:t>Get the FedLearnVar simulation running and turn it into our data generator and training step.</a:t>
            </a:r>
            <a:endParaRPr lang="en-US" sz="1800" dirty="0"/>
          </a:p>
        </p:txBody>
      </p:sp>
      <p:sp>
        <p:nvSpPr>
          <p:cNvPr id="7" name="Text 5"/>
          <p:cNvSpPr txBox="1"/>
          <p:nvPr/>
        </p:nvSpPr>
        <p:spPr>
          <a:xfrm>
            <a:off x="457200" y="2057400"/>
            <a:ext cx="6400800" cy="411480"/>
          </a:xfrm>
          <a:prstGeom prst="rect">
            <a:avLst/>
          </a:prstGeom>
          <a:noFill/>
          <a:ln/>
        </p:spPr>
        <p:txBody>
          <a:bodyPr wrap="square" lIns="0" tIns="0" rIns="0" bIns="0" rtlCol="0" anchor="ctr"/>
          <a:lstStyle/>
          <a:p>
            <a:pPr indent="0" marL="0">
              <a:buNone/>
            </a:pPr>
            <a:r>
              <a:rPr lang="en-US" sz="2000" b="1" dirty="0">
                <a:solidFill>
                  <a:srgbClr val="1F2933"/>
                </a:solidFill>
                <a:latin typeface="Cambria" pitchFamily="34" charset="0"/>
                <a:ea typeface="Cambria" pitchFamily="34" charset="-122"/>
                <a:cs typeface="Cambria" pitchFamily="34" charset="-120"/>
              </a:rPr>
              <a:t>Done today</a:t>
            </a:r>
            <a:endParaRPr lang="en-US" sz="2000" dirty="0"/>
          </a:p>
        </p:txBody>
      </p:sp>
      <p:sp>
        <p:nvSpPr>
          <p:cNvPr id="8" name="Shape 6"/>
          <p:cNvSpPr/>
          <p:nvPr/>
        </p:nvSpPr>
        <p:spPr>
          <a:xfrm>
            <a:off x="457200" y="2697480"/>
            <a:ext cx="329184" cy="329184"/>
          </a:xfrm>
          <a:prstGeom prst="roundRect">
            <a:avLst>
              <a:gd name="adj" fmla="val 16667"/>
            </a:avLst>
          </a:prstGeom>
          <a:solidFill>
            <a:srgbClr val="FFFFFF"/>
          </a:solidFill>
          <a:ln w="25400">
            <a:solidFill>
              <a:srgbClr val="0E7C7B"/>
            </a:solidFill>
            <a:prstDash val="solid"/>
          </a:ln>
        </p:spPr>
      </p:sp>
      <p:sp>
        <p:nvSpPr>
          <p:cNvPr id="9" name="Text 7"/>
          <p:cNvSpPr txBox="1"/>
          <p:nvPr/>
        </p:nvSpPr>
        <p:spPr>
          <a:xfrm>
            <a:off x="960120" y="260604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The FedLearnVar notebook runs; we understand its features, model, and FedAvg loop</a:t>
            </a:r>
            <a:endParaRPr lang="en-US" sz="1500" dirty="0"/>
          </a:p>
        </p:txBody>
      </p:sp>
      <p:sp>
        <p:nvSpPr>
          <p:cNvPr id="10" name="Shape 8"/>
          <p:cNvSpPr/>
          <p:nvPr/>
        </p:nvSpPr>
        <p:spPr>
          <a:xfrm>
            <a:off x="457200" y="3474720"/>
            <a:ext cx="329184" cy="329184"/>
          </a:xfrm>
          <a:prstGeom prst="roundRect">
            <a:avLst>
              <a:gd name="adj" fmla="val 16667"/>
            </a:avLst>
          </a:prstGeom>
          <a:solidFill>
            <a:srgbClr val="FFFFFF"/>
          </a:solidFill>
          <a:ln w="25400">
            <a:solidFill>
              <a:srgbClr val="0E7C7B"/>
            </a:solidFill>
            <a:prstDash val="solid"/>
          </a:ln>
        </p:spPr>
      </p:sp>
      <p:sp>
        <p:nvSpPr>
          <p:cNvPr id="11" name="Text 9"/>
          <p:cNvSpPr txBox="1"/>
          <p:nvPr/>
        </p:nvSpPr>
        <p:spPr>
          <a:xfrm>
            <a:off x="960120" y="338328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A script that writes 3 ancestry-skewed synthetic partitions to files</a:t>
            </a:r>
            <a:endParaRPr lang="en-US" sz="1500" dirty="0"/>
          </a:p>
        </p:txBody>
      </p:sp>
      <p:sp>
        <p:nvSpPr>
          <p:cNvPr id="12" name="Shape 10"/>
          <p:cNvSpPr/>
          <p:nvPr/>
        </p:nvSpPr>
        <p:spPr>
          <a:xfrm>
            <a:off x="457200" y="4251960"/>
            <a:ext cx="329184" cy="329184"/>
          </a:xfrm>
          <a:prstGeom prst="roundRect">
            <a:avLst>
              <a:gd name="adj" fmla="val 16667"/>
            </a:avLst>
          </a:prstGeom>
          <a:solidFill>
            <a:srgbClr val="FFFFFF"/>
          </a:solidFill>
          <a:ln w="25400">
            <a:solidFill>
              <a:srgbClr val="B7C4CA"/>
            </a:solidFill>
            <a:prstDash val="solid"/>
          </a:ln>
        </p:spPr>
      </p:sp>
      <p:sp>
        <p:nvSpPr>
          <p:cNvPr id="13" name="Text 11"/>
          <p:cNvSpPr txBox="1"/>
          <p:nvPr/>
        </p:nvSpPr>
        <p:spPr>
          <a:xfrm>
            <a:off x="960120" y="4160520"/>
            <a:ext cx="6309360" cy="548640"/>
          </a:xfrm>
          <a:prstGeom prst="rect">
            <a:avLst/>
          </a:prstGeom>
          <a:noFill/>
          <a:ln/>
        </p:spPr>
        <p:txBody>
          <a:bodyPr wrap="square" lIns="0" tIns="0" rIns="0" bIns="0" rtlCol="0" anchor="ctr"/>
          <a:lstStyle/>
          <a:p>
            <a:pPr indent="0" marL="0">
              <a:buNone/>
            </a:pPr>
            <a:r>
              <a:rPr lang="en-US" sz="1500" b="1" dirty="0">
                <a:solidFill>
                  <a:srgbClr val="5B6770"/>
                </a:solidFill>
                <a:latin typeface="Calibri" pitchFamily="34" charset="0"/>
                <a:ea typeface="Calibri" pitchFamily="34" charset="-122"/>
                <a:cs typeface="Calibri" pitchFamily="34" charset="-120"/>
              </a:rPr>
              <a:t>Stretch  </a:t>
            </a:r>
            <a:pPr indent="0" marL="0">
              <a:buNone/>
            </a:pPr>
            <a:r>
              <a:rPr lang="en-US" sz="1500" dirty="0">
                <a:solidFill>
                  <a:srgbClr val="1F2933"/>
                </a:solidFill>
                <a:latin typeface="Calibri" pitchFamily="34" charset="0"/>
                <a:ea typeface="Calibri" pitchFamily="34" charset="-122"/>
                <a:cs typeface="Calibri" pitchFamily="34" charset="-120"/>
              </a:rPr>
              <a:t>Federated beats local-only on those partitions, in simulation</a:t>
            </a:r>
            <a:endParaRPr lang="en-US" sz="1500" dirty="0"/>
          </a:p>
        </p:txBody>
      </p:sp>
      <p:sp>
        <p:nvSpPr>
          <p:cNvPr id="14" name="Shape 12"/>
          <p:cNvSpPr/>
          <p:nvPr/>
        </p:nvSpPr>
        <p:spPr>
          <a:xfrm>
            <a:off x="457200" y="5029200"/>
            <a:ext cx="329184" cy="329184"/>
          </a:xfrm>
          <a:prstGeom prst="roundRect">
            <a:avLst>
              <a:gd name="adj" fmla="val 16667"/>
            </a:avLst>
          </a:prstGeom>
          <a:solidFill>
            <a:srgbClr val="FFFFFF"/>
          </a:solidFill>
          <a:ln w="25400">
            <a:solidFill>
              <a:srgbClr val="B7C4CA"/>
            </a:solidFill>
            <a:prstDash val="solid"/>
          </a:ln>
        </p:spPr>
      </p:sp>
      <p:sp>
        <p:nvSpPr>
          <p:cNvPr id="15" name="Text 13"/>
          <p:cNvSpPr txBox="1"/>
          <p:nvPr/>
        </p:nvSpPr>
        <p:spPr>
          <a:xfrm>
            <a:off x="960120" y="4937760"/>
            <a:ext cx="6309360" cy="548640"/>
          </a:xfrm>
          <a:prstGeom prst="rect">
            <a:avLst/>
          </a:prstGeom>
          <a:noFill/>
          <a:ln/>
        </p:spPr>
        <p:txBody>
          <a:bodyPr wrap="square" lIns="0" tIns="0" rIns="0" bIns="0" rtlCol="0" anchor="ctr"/>
          <a:lstStyle/>
          <a:p>
            <a:pPr indent="0" marL="0">
              <a:buNone/>
            </a:pPr>
            <a:r>
              <a:rPr lang="en-US" sz="1500" b="1" dirty="0">
                <a:solidFill>
                  <a:srgbClr val="5B6770"/>
                </a:solidFill>
                <a:latin typeface="Calibri" pitchFamily="34" charset="0"/>
                <a:ea typeface="Calibri" pitchFamily="34" charset="-122"/>
                <a:cs typeface="Calibri" pitchFamily="34" charset="-120"/>
              </a:rPr>
              <a:t>Stretch  </a:t>
            </a:r>
            <a:pPr indent="0" marL="0">
              <a:buNone/>
            </a:pPr>
            <a:r>
              <a:rPr lang="en-US" sz="1500" dirty="0">
                <a:solidFill>
                  <a:srgbClr val="1F2933"/>
                </a:solidFill>
                <a:latin typeface="Calibri" pitchFamily="34" charset="0"/>
                <a:ea typeface="Calibri" pitchFamily="34" charset="-122"/>
                <a:cs typeface="Calibri" pitchFamily="34" charset="-120"/>
              </a:rPr>
              <a:t>Local training step as a script: weights_in, data_in → weights_out</a:t>
            </a:r>
            <a:endParaRPr lang="en-US" sz="1500" dirty="0"/>
          </a:p>
        </p:txBody>
      </p:sp>
      <p:sp>
        <p:nvSpPr>
          <p:cNvPr id="16" name="Shape 14"/>
          <p:cNvSpPr/>
          <p:nvPr/>
        </p:nvSpPr>
        <p:spPr>
          <a:xfrm>
            <a:off x="7680960" y="2057400"/>
            <a:ext cx="4050792" cy="4114800"/>
          </a:xfrm>
          <a:prstGeom prst="roundRect">
            <a:avLst>
              <a:gd name="adj" fmla="val 2257"/>
            </a:avLst>
          </a:prstGeom>
          <a:solidFill>
            <a:srgbClr val="F2F5F6"/>
          </a:solidFill>
          <a:ln w="12700">
            <a:solidFill>
              <a:srgbClr val="F2F5F6"/>
            </a:solidFill>
            <a:prstDash val="solid"/>
          </a:ln>
        </p:spPr>
      </p:sp>
      <p:sp>
        <p:nvSpPr>
          <p:cNvPr id="17" name="Text 15"/>
          <p:cNvSpPr txBox="1"/>
          <p:nvPr/>
        </p:nvSpPr>
        <p:spPr>
          <a:xfrm>
            <a:off x="7909560" y="2194560"/>
            <a:ext cx="3657600" cy="411480"/>
          </a:xfrm>
          <a:prstGeom prst="rect">
            <a:avLst/>
          </a:prstGeom>
          <a:noFill/>
          <a:ln/>
        </p:spPr>
        <p:txBody>
          <a:bodyPr wrap="square" lIns="0" tIns="0" rIns="0" bIns="0" rtlCol="0" anchor="ctr"/>
          <a:lstStyle/>
          <a:p>
            <a:pPr indent="0" marL="0">
              <a:buNone/>
            </a:pPr>
            <a:r>
              <a:rPr lang="en-US" sz="1800" b="1" dirty="0">
                <a:solidFill>
                  <a:srgbClr val="1F2933"/>
                </a:solidFill>
                <a:latin typeface="Cambria" pitchFamily="34" charset="0"/>
                <a:ea typeface="Cambria" pitchFamily="34" charset="-122"/>
                <a:cs typeface="Cambria" pitchFamily="34" charset="-120"/>
              </a:rPr>
              <a:t>Starting points</a:t>
            </a:r>
            <a:endParaRPr lang="en-US" sz="1800" dirty="0"/>
          </a:p>
        </p:txBody>
      </p:sp>
      <p:sp>
        <p:nvSpPr>
          <p:cNvPr id="18" name="Text 16"/>
          <p:cNvSpPr txBox="1"/>
          <p:nvPr/>
        </p:nvSpPr>
        <p:spPr>
          <a:xfrm>
            <a:off x="7909560" y="2697480"/>
            <a:ext cx="3657600" cy="3337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github.com/RausellLab/FedLearnVar (FL_simulation.ipynb)</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Montalvo et al., Bioinformatics 2025</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Proposal: synthetic data and planted-signal sections</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Opacus for DP-SGD (not needed today)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85800" cy="685800"/>
          </a:xfrm>
          <a:prstGeom prst="ellipse">
            <a:avLst/>
          </a:prstGeom>
          <a:solidFill>
            <a:srgbClr val="0E7C7B"/>
          </a:solidFill>
          <a:ln w="12700">
            <a:solidFill>
              <a:srgbClr val="0E7C7B"/>
            </a:solidFill>
            <a:prstDash val="solid"/>
          </a:ln>
        </p:spPr>
      </p:sp>
      <p:sp>
        <p:nvSpPr>
          <p:cNvPr id="3" name="Text 1"/>
          <p:cNvSpPr txBox="1"/>
          <p:nvPr/>
        </p:nvSpPr>
        <p:spPr>
          <a:xfrm>
            <a:off x="457200" y="38404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sp>
        <p:nvSpPr>
          <p:cNvPr id="4" name="Text 2"/>
          <p:cNvSpPr txBox="1"/>
          <p:nvPr/>
        </p:nvSpPr>
        <p:spPr>
          <a:xfrm>
            <a:off x="1325880" y="320040"/>
            <a:ext cx="8229600" cy="82296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Track B: Node-in-a-box</a:t>
            </a:r>
            <a:endParaRPr lang="en-US" sz="3200" dirty="0"/>
          </a:p>
        </p:txBody>
      </p:sp>
      <p:sp>
        <p:nvSpPr>
          <p:cNvPr id="5" name="Text 3"/>
          <p:cNvSpPr txBox="1"/>
          <p:nvPr/>
        </p:nvSpPr>
        <p:spPr>
          <a:xfrm>
            <a:off x="8686800" y="457200"/>
            <a:ext cx="3044952" cy="548640"/>
          </a:xfrm>
          <a:prstGeom prst="rect">
            <a:avLst/>
          </a:prstGeom>
          <a:noFill/>
          <a:ln/>
        </p:spPr>
        <p:txBody>
          <a:bodyPr wrap="square" lIns="0" tIns="0" rIns="0" bIns="0" rtlCol="0" anchor="ctr"/>
          <a:lstStyle/>
          <a:p>
            <a:pPr algn="r" indent="0" marL="0">
              <a:buNone/>
            </a:pPr>
            <a:r>
              <a:rPr lang="en-US" sz="1500" b="1" dirty="0">
                <a:solidFill>
                  <a:srgbClr val="0A5857"/>
                </a:solidFill>
                <a:latin typeface="Calibri" pitchFamily="34" charset="0"/>
                <a:ea typeface="Calibri" pitchFamily="34" charset="-122"/>
                <a:cs typeface="Calibri" pitchFamily="34" charset="-120"/>
              </a:rPr>
              <a:t>Lead: Kyle (proposed)</a:t>
            </a:r>
            <a:endParaRPr lang="en-US" sz="1500" dirty="0"/>
          </a:p>
        </p:txBody>
      </p:sp>
      <p:sp>
        <p:nvSpPr>
          <p:cNvPr id="6" name="Text 4"/>
          <p:cNvSpPr txBox="1"/>
          <p:nvPr/>
        </p:nvSpPr>
        <p:spPr>
          <a:xfrm>
            <a:off x="457200" y="1325880"/>
            <a:ext cx="11277295" cy="548640"/>
          </a:xfrm>
          <a:prstGeom prst="rect">
            <a:avLst/>
          </a:prstGeom>
          <a:noFill/>
          <a:ln/>
        </p:spPr>
        <p:txBody>
          <a:bodyPr wrap="square" lIns="0" tIns="0" rIns="0" bIns="0" rtlCol="0" anchor="ctr"/>
          <a:lstStyle/>
          <a:p>
            <a:pPr indent="0" marL="0">
              <a:buNone/>
            </a:pPr>
            <a:r>
              <a:rPr lang="en-US" sz="1800" i="1" dirty="0">
                <a:solidFill>
                  <a:srgbClr val="1F2933"/>
                </a:solidFill>
                <a:latin typeface="Calibri" pitchFamily="34" charset="0"/>
                <a:ea typeface="Calibri" pitchFamily="34" charset="-122"/>
                <a:cs typeface="Calibri" pitchFamily="34" charset="-120"/>
              </a:rPr>
              <a:t>A docker compose stack on a laptop that proves the round trip a site has to support.</a:t>
            </a:r>
            <a:endParaRPr lang="en-US" sz="1800" dirty="0"/>
          </a:p>
        </p:txBody>
      </p:sp>
      <p:sp>
        <p:nvSpPr>
          <p:cNvPr id="7" name="Text 5"/>
          <p:cNvSpPr txBox="1"/>
          <p:nvPr/>
        </p:nvSpPr>
        <p:spPr>
          <a:xfrm>
            <a:off x="457200" y="2057400"/>
            <a:ext cx="6400800" cy="411480"/>
          </a:xfrm>
          <a:prstGeom prst="rect">
            <a:avLst/>
          </a:prstGeom>
          <a:noFill/>
          <a:ln/>
        </p:spPr>
        <p:txBody>
          <a:bodyPr wrap="square" lIns="0" tIns="0" rIns="0" bIns="0" rtlCol="0" anchor="ctr"/>
          <a:lstStyle/>
          <a:p>
            <a:pPr indent="0" marL="0">
              <a:buNone/>
            </a:pPr>
            <a:r>
              <a:rPr lang="en-US" sz="2000" b="1" dirty="0">
                <a:solidFill>
                  <a:srgbClr val="1F2933"/>
                </a:solidFill>
                <a:latin typeface="Cambria" pitchFamily="34" charset="0"/>
                <a:ea typeface="Cambria" pitchFamily="34" charset="-122"/>
                <a:cs typeface="Cambria" pitchFamily="34" charset="-120"/>
              </a:rPr>
              <a:t>Done today</a:t>
            </a:r>
            <a:endParaRPr lang="en-US" sz="2000" dirty="0"/>
          </a:p>
        </p:txBody>
      </p:sp>
      <p:sp>
        <p:nvSpPr>
          <p:cNvPr id="8" name="Shape 6"/>
          <p:cNvSpPr/>
          <p:nvPr/>
        </p:nvSpPr>
        <p:spPr>
          <a:xfrm>
            <a:off x="457200" y="2697480"/>
            <a:ext cx="329184" cy="329184"/>
          </a:xfrm>
          <a:prstGeom prst="roundRect">
            <a:avLst>
              <a:gd name="adj" fmla="val 16667"/>
            </a:avLst>
          </a:prstGeom>
          <a:solidFill>
            <a:srgbClr val="FFFFFF"/>
          </a:solidFill>
          <a:ln w="25400">
            <a:solidFill>
              <a:srgbClr val="0E7C7B"/>
            </a:solidFill>
            <a:prstDash val="solid"/>
          </a:ln>
        </p:spPr>
      </p:sp>
      <p:sp>
        <p:nvSpPr>
          <p:cNvPr id="9" name="Text 7"/>
          <p:cNvSpPr txBox="1"/>
          <p:nvPr/>
        </p:nvSpPr>
        <p:spPr>
          <a:xfrm>
            <a:off x="960120" y="260604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DRS server + object store up; register a file and resolve it by DRS URI</a:t>
            </a:r>
            <a:endParaRPr lang="en-US" sz="1500" dirty="0"/>
          </a:p>
        </p:txBody>
      </p:sp>
      <p:sp>
        <p:nvSpPr>
          <p:cNvPr id="10" name="Shape 8"/>
          <p:cNvSpPr/>
          <p:nvPr/>
        </p:nvSpPr>
        <p:spPr>
          <a:xfrm>
            <a:off x="457200" y="3474720"/>
            <a:ext cx="329184" cy="329184"/>
          </a:xfrm>
          <a:prstGeom prst="roundRect">
            <a:avLst>
              <a:gd name="adj" fmla="val 16667"/>
            </a:avLst>
          </a:prstGeom>
          <a:solidFill>
            <a:srgbClr val="FFFFFF"/>
          </a:solidFill>
          <a:ln w="25400">
            <a:solidFill>
              <a:srgbClr val="0E7C7B"/>
            </a:solidFill>
            <a:prstDash val="solid"/>
          </a:ln>
        </p:spPr>
      </p:sp>
      <p:sp>
        <p:nvSpPr>
          <p:cNvPr id="11" name="Text 9"/>
          <p:cNvSpPr txBox="1"/>
          <p:nvPr/>
        </p:nvSpPr>
        <p:spPr>
          <a:xfrm>
            <a:off x="960120" y="338328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TES (or WES) up; run a hello-world container</a:t>
            </a:r>
            <a:endParaRPr lang="en-US" sz="1500" dirty="0"/>
          </a:p>
        </p:txBody>
      </p:sp>
      <p:sp>
        <p:nvSpPr>
          <p:cNvPr id="12" name="Shape 10"/>
          <p:cNvSpPr/>
          <p:nvPr/>
        </p:nvSpPr>
        <p:spPr>
          <a:xfrm>
            <a:off x="457200" y="4251960"/>
            <a:ext cx="329184" cy="329184"/>
          </a:xfrm>
          <a:prstGeom prst="roundRect">
            <a:avLst>
              <a:gd name="adj" fmla="val 16667"/>
            </a:avLst>
          </a:prstGeom>
          <a:solidFill>
            <a:srgbClr val="FFFFFF"/>
          </a:solidFill>
          <a:ln w="25400">
            <a:solidFill>
              <a:srgbClr val="B7C4CA"/>
            </a:solidFill>
            <a:prstDash val="solid"/>
          </a:ln>
        </p:spPr>
      </p:sp>
      <p:sp>
        <p:nvSpPr>
          <p:cNvPr id="13" name="Text 11"/>
          <p:cNvSpPr txBox="1"/>
          <p:nvPr/>
        </p:nvSpPr>
        <p:spPr>
          <a:xfrm>
            <a:off x="960120" y="4160520"/>
            <a:ext cx="6309360" cy="548640"/>
          </a:xfrm>
          <a:prstGeom prst="rect">
            <a:avLst/>
          </a:prstGeom>
          <a:noFill/>
          <a:ln/>
        </p:spPr>
        <p:txBody>
          <a:bodyPr wrap="square" lIns="0" tIns="0" rIns="0" bIns="0" rtlCol="0" anchor="ctr"/>
          <a:lstStyle/>
          <a:p>
            <a:pPr indent="0" marL="0">
              <a:buNone/>
            </a:pPr>
            <a:r>
              <a:rPr lang="en-US" sz="1500" b="1" dirty="0">
                <a:solidFill>
                  <a:srgbClr val="5B6770"/>
                </a:solidFill>
                <a:latin typeface="Calibri" pitchFamily="34" charset="0"/>
                <a:ea typeface="Calibri" pitchFamily="34" charset="-122"/>
                <a:cs typeface="Calibri" pitchFamily="34" charset="-120"/>
              </a:rPr>
              <a:t>Stretch  </a:t>
            </a:r>
            <a:pPr indent="0" marL="0">
              <a:buNone/>
            </a:pPr>
            <a:r>
              <a:rPr lang="en-US" sz="1500" dirty="0">
                <a:solidFill>
                  <a:srgbClr val="1F2933"/>
                </a:solidFill>
                <a:latin typeface="Calibri" pitchFamily="34" charset="0"/>
                <a:ea typeface="Calibri" pitchFamily="34" charset="-122"/>
                <a:cs typeface="Calibri" pitchFamily="34" charset="-120"/>
              </a:rPr>
              <a:t>Container reads an input by DRS URI and writes an output registered in DRS with a new URI</a:t>
            </a:r>
            <a:endParaRPr lang="en-US" sz="1500" dirty="0"/>
          </a:p>
        </p:txBody>
      </p:sp>
      <p:sp>
        <p:nvSpPr>
          <p:cNvPr id="14" name="Shape 12"/>
          <p:cNvSpPr/>
          <p:nvPr/>
        </p:nvSpPr>
        <p:spPr>
          <a:xfrm>
            <a:off x="457200" y="5029200"/>
            <a:ext cx="329184" cy="329184"/>
          </a:xfrm>
          <a:prstGeom prst="roundRect">
            <a:avLst>
              <a:gd name="adj" fmla="val 16667"/>
            </a:avLst>
          </a:prstGeom>
          <a:solidFill>
            <a:srgbClr val="FFFFFF"/>
          </a:solidFill>
          <a:ln w="25400">
            <a:solidFill>
              <a:srgbClr val="B7C4CA"/>
            </a:solidFill>
            <a:prstDash val="solid"/>
          </a:ln>
        </p:spPr>
      </p:sp>
      <p:sp>
        <p:nvSpPr>
          <p:cNvPr id="15" name="Text 13"/>
          <p:cNvSpPr txBox="1"/>
          <p:nvPr/>
        </p:nvSpPr>
        <p:spPr>
          <a:xfrm>
            <a:off x="960120" y="4937760"/>
            <a:ext cx="6309360" cy="548640"/>
          </a:xfrm>
          <a:prstGeom prst="rect">
            <a:avLst/>
          </a:prstGeom>
          <a:noFill/>
          <a:ln/>
        </p:spPr>
        <p:txBody>
          <a:bodyPr wrap="square" lIns="0" tIns="0" rIns="0" bIns="0" rtlCol="0" anchor="ctr"/>
          <a:lstStyle/>
          <a:p>
            <a:pPr indent="0" marL="0">
              <a:buNone/>
            </a:pPr>
            <a:r>
              <a:rPr lang="en-US" sz="1500" b="1" dirty="0">
                <a:solidFill>
                  <a:srgbClr val="5B6770"/>
                </a:solidFill>
                <a:latin typeface="Calibri" pitchFamily="34" charset="0"/>
                <a:ea typeface="Calibri" pitchFamily="34" charset="-122"/>
                <a:cs typeface="Calibri" pitchFamily="34" charset="-120"/>
              </a:rPr>
              <a:t>Stretch  </a:t>
            </a:r>
            <a:pPr indent="0" marL="0">
              <a:buNone/>
            </a:pPr>
            <a:r>
              <a:rPr lang="en-US" sz="1500" dirty="0">
                <a:solidFill>
                  <a:srgbClr val="1F2933"/>
                </a:solidFill>
                <a:latin typeface="Calibri" pitchFamily="34" charset="0"/>
                <a:ea typeface="Calibri" pitchFamily="34" charset="-122"/>
                <a:cs typeface="Calibri" pitchFamily="34" charset="-120"/>
              </a:rPr>
              <a:t>Whatever breaks in that write-back step → first api-gap issue</a:t>
            </a:r>
            <a:endParaRPr lang="en-US" sz="1500" dirty="0"/>
          </a:p>
        </p:txBody>
      </p:sp>
      <p:sp>
        <p:nvSpPr>
          <p:cNvPr id="16" name="Shape 14"/>
          <p:cNvSpPr/>
          <p:nvPr/>
        </p:nvSpPr>
        <p:spPr>
          <a:xfrm>
            <a:off x="7680960" y="2057400"/>
            <a:ext cx="4050792" cy="4114800"/>
          </a:xfrm>
          <a:prstGeom prst="roundRect">
            <a:avLst>
              <a:gd name="adj" fmla="val 2257"/>
            </a:avLst>
          </a:prstGeom>
          <a:solidFill>
            <a:srgbClr val="F2F5F6"/>
          </a:solidFill>
          <a:ln w="12700">
            <a:solidFill>
              <a:srgbClr val="F2F5F6"/>
            </a:solidFill>
            <a:prstDash val="solid"/>
          </a:ln>
        </p:spPr>
      </p:sp>
      <p:sp>
        <p:nvSpPr>
          <p:cNvPr id="17" name="Text 15"/>
          <p:cNvSpPr txBox="1"/>
          <p:nvPr/>
        </p:nvSpPr>
        <p:spPr>
          <a:xfrm>
            <a:off x="7909560" y="2194560"/>
            <a:ext cx="3657600" cy="411480"/>
          </a:xfrm>
          <a:prstGeom prst="rect">
            <a:avLst/>
          </a:prstGeom>
          <a:noFill/>
          <a:ln/>
        </p:spPr>
        <p:txBody>
          <a:bodyPr wrap="square" lIns="0" tIns="0" rIns="0" bIns="0" rtlCol="0" anchor="ctr"/>
          <a:lstStyle/>
          <a:p>
            <a:pPr indent="0" marL="0">
              <a:buNone/>
            </a:pPr>
            <a:r>
              <a:rPr lang="en-US" sz="1800" b="1" dirty="0">
                <a:solidFill>
                  <a:srgbClr val="1F2933"/>
                </a:solidFill>
                <a:latin typeface="Cambria" pitchFamily="34" charset="0"/>
                <a:ea typeface="Cambria" pitchFamily="34" charset="-122"/>
                <a:cs typeface="Cambria" pitchFamily="34" charset="-120"/>
              </a:rPr>
              <a:t>Starting points</a:t>
            </a:r>
            <a:endParaRPr lang="en-US" sz="1800" dirty="0"/>
          </a:p>
        </p:txBody>
      </p:sp>
      <p:sp>
        <p:nvSpPr>
          <p:cNvPr id="18" name="Text 16"/>
          <p:cNvSpPr txBox="1"/>
          <p:nvPr/>
        </p:nvSpPr>
        <p:spPr>
          <a:xfrm>
            <a:off x="7909560" y="2697480"/>
            <a:ext cx="3657600" cy="3337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Evaluator picks from D3 / D4</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Syfon + Funnel (Kyle)</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Reference Cloud: docs.refcloud.ga4gh.org</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Starter Kit: starterkit.ga4gh.org</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Issue template: API gap</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85800" cy="685800"/>
          </a:xfrm>
          <a:prstGeom prst="ellipse">
            <a:avLst/>
          </a:prstGeom>
          <a:solidFill>
            <a:srgbClr val="0E7C7B"/>
          </a:solidFill>
          <a:ln w="12700">
            <a:solidFill>
              <a:srgbClr val="0E7C7B"/>
            </a:solidFill>
            <a:prstDash val="solid"/>
          </a:ln>
        </p:spPr>
      </p:sp>
      <p:sp>
        <p:nvSpPr>
          <p:cNvPr id="3" name="Text 1"/>
          <p:cNvSpPr txBox="1"/>
          <p:nvPr/>
        </p:nvSpPr>
        <p:spPr>
          <a:xfrm>
            <a:off x="457200" y="38404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a:t>
            </a:r>
            <a:endParaRPr lang="en-US" sz="2600" dirty="0"/>
          </a:p>
        </p:txBody>
      </p:sp>
      <p:sp>
        <p:nvSpPr>
          <p:cNvPr id="4" name="Text 2"/>
          <p:cNvSpPr txBox="1"/>
          <p:nvPr/>
        </p:nvSpPr>
        <p:spPr>
          <a:xfrm>
            <a:off x="1325880" y="320040"/>
            <a:ext cx="8229600" cy="82296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Track C: Coordinator spike</a:t>
            </a:r>
            <a:endParaRPr lang="en-US" sz="3200" dirty="0"/>
          </a:p>
        </p:txBody>
      </p:sp>
      <p:sp>
        <p:nvSpPr>
          <p:cNvPr id="5" name="Text 3"/>
          <p:cNvSpPr txBox="1"/>
          <p:nvPr/>
        </p:nvSpPr>
        <p:spPr>
          <a:xfrm>
            <a:off x="8686800" y="457200"/>
            <a:ext cx="3044952" cy="548640"/>
          </a:xfrm>
          <a:prstGeom prst="rect">
            <a:avLst/>
          </a:prstGeom>
          <a:noFill/>
          <a:ln/>
        </p:spPr>
        <p:txBody>
          <a:bodyPr wrap="square" lIns="0" tIns="0" rIns="0" bIns="0" rtlCol="0" anchor="ctr"/>
          <a:lstStyle/>
          <a:p>
            <a:pPr algn="r" indent="0" marL="0">
              <a:buNone/>
            </a:pPr>
            <a:r>
              <a:rPr lang="en-US" sz="1500" b="1" dirty="0">
                <a:solidFill>
                  <a:srgbClr val="0A5857"/>
                </a:solidFill>
                <a:latin typeface="Calibri" pitchFamily="34" charset="0"/>
                <a:ea typeface="Calibri" pitchFamily="34" charset="-122"/>
                <a:cs typeface="Calibri" pitchFamily="34" charset="-120"/>
              </a:rPr>
              <a:t>Lead: Venkat</a:t>
            </a:r>
            <a:endParaRPr lang="en-US" sz="1500" dirty="0"/>
          </a:p>
        </p:txBody>
      </p:sp>
      <p:sp>
        <p:nvSpPr>
          <p:cNvPr id="6" name="Text 4"/>
          <p:cNvSpPr txBox="1"/>
          <p:nvPr/>
        </p:nvSpPr>
        <p:spPr>
          <a:xfrm>
            <a:off x="457200" y="1325880"/>
            <a:ext cx="11277295" cy="548640"/>
          </a:xfrm>
          <a:prstGeom prst="rect">
            <a:avLst/>
          </a:prstGeom>
          <a:noFill/>
          <a:ln/>
        </p:spPr>
        <p:txBody>
          <a:bodyPr wrap="square" lIns="0" tIns="0" rIns="0" bIns="0" rtlCol="0" anchor="ctr"/>
          <a:lstStyle/>
          <a:p>
            <a:pPr indent="0" marL="0">
              <a:buNone/>
            </a:pPr>
            <a:r>
              <a:rPr lang="en-US" sz="1800" i="1" dirty="0">
                <a:solidFill>
                  <a:srgbClr val="1F2933"/>
                </a:solidFill>
                <a:latin typeface="Calibri" pitchFamily="34" charset="0"/>
                <a:ea typeface="Calibri" pitchFamily="34" charset="-122"/>
                <a:cs typeface="Calibri" pitchFamily="34" charset="-120"/>
              </a:rPr>
              <a:t>A FedAvg loop in which "train on client" is a WES/TES submission.</a:t>
            </a:r>
            <a:endParaRPr lang="en-US" sz="1800" dirty="0"/>
          </a:p>
        </p:txBody>
      </p:sp>
      <p:sp>
        <p:nvSpPr>
          <p:cNvPr id="7" name="Text 5"/>
          <p:cNvSpPr txBox="1"/>
          <p:nvPr/>
        </p:nvSpPr>
        <p:spPr>
          <a:xfrm>
            <a:off x="457200" y="2057400"/>
            <a:ext cx="6400800" cy="411480"/>
          </a:xfrm>
          <a:prstGeom prst="rect">
            <a:avLst/>
          </a:prstGeom>
          <a:noFill/>
          <a:ln/>
        </p:spPr>
        <p:txBody>
          <a:bodyPr wrap="square" lIns="0" tIns="0" rIns="0" bIns="0" rtlCol="0" anchor="ctr"/>
          <a:lstStyle/>
          <a:p>
            <a:pPr indent="0" marL="0">
              <a:buNone/>
            </a:pPr>
            <a:r>
              <a:rPr lang="en-US" sz="2000" b="1" dirty="0">
                <a:solidFill>
                  <a:srgbClr val="1F2933"/>
                </a:solidFill>
                <a:latin typeface="Cambria" pitchFamily="34" charset="0"/>
                <a:ea typeface="Cambria" pitchFamily="34" charset="-122"/>
                <a:cs typeface="Cambria" pitchFamily="34" charset="-120"/>
              </a:rPr>
              <a:t>Done today</a:t>
            </a:r>
            <a:endParaRPr lang="en-US" sz="2000" dirty="0"/>
          </a:p>
        </p:txBody>
      </p:sp>
      <p:sp>
        <p:nvSpPr>
          <p:cNvPr id="8" name="Shape 6"/>
          <p:cNvSpPr/>
          <p:nvPr/>
        </p:nvSpPr>
        <p:spPr>
          <a:xfrm>
            <a:off x="457200" y="2697480"/>
            <a:ext cx="329184" cy="329184"/>
          </a:xfrm>
          <a:prstGeom prst="roundRect">
            <a:avLst>
              <a:gd name="adj" fmla="val 16667"/>
            </a:avLst>
          </a:prstGeom>
          <a:solidFill>
            <a:srgbClr val="FFFFFF"/>
          </a:solidFill>
          <a:ln w="25400">
            <a:solidFill>
              <a:srgbClr val="0E7C7B"/>
            </a:solidFill>
            <a:prstDash val="solid"/>
          </a:ln>
        </p:spPr>
      </p:sp>
      <p:sp>
        <p:nvSpPr>
          <p:cNvPr id="9" name="Text 7"/>
          <p:cNvSpPr txBox="1"/>
          <p:nvPr/>
        </p:nvSpPr>
        <p:spPr>
          <a:xfrm>
            <a:off x="960120" y="260604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FedAvg round loop (plain Python or Flower Strategy) with a mocked client call</a:t>
            </a:r>
            <a:endParaRPr lang="en-US" sz="1500" dirty="0"/>
          </a:p>
        </p:txBody>
      </p:sp>
      <p:sp>
        <p:nvSpPr>
          <p:cNvPr id="10" name="Shape 8"/>
          <p:cNvSpPr/>
          <p:nvPr/>
        </p:nvSpPr>
        <p:spPr>
          <a:xfrm>
            <a:off x="457200" y="3474720"/>
            <a:ext cx="329184" cy="329184"/>
          </a:xfrm>
          <a:prstGeom prst="roundRect">
            <a:avLst>
              <a:gd name="adj" fmla="val 16667"/>
            </a:avLst>
          </a:prstGeom>
          <a:solidFill>
            <a:srgbClr val="FFFFFF"/>
          </a:solidFill>
          <a:ln w="25400">
            <a:solidFill>
              <a:srgbClr val="0E7C7B"/>
            </a:solidFill>
            <a:prstDash val="solid"/>
          </a:ln>
        </p:spPr>
      </p:sp>
      <p:sp>
        <p:nvSpPr>
          <p:cNvPr id="11" name="Text 9"/>
          <p:cNvSpPr txBox="1"/>
          <p:nvPr/>
        </p:nvSpPr>
        <p:spPr>
          <a:xfrm>
            <a:off x="960120" y="338328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Thin client: submit task with DRS URIs, poll status, read output DRS URI</a:t>
            </a:r>
            <a:endParaRPr lang="en-US" sz="1500" dirty="0"/>
          </a:p>
        </p:txBody>
      </p:sp>
      <p:sp>
        <p:nvSpPr>
          <p:cNvPr id="12" name="Shape 10"/>
          <p:cNvSpPr/>
          <p:nvPr/>
        </p:nvSpPr>
        <p:spPr>
          <a:xfrm>
            <a:off x="457200" y="4251960"/>
            <a:ext cx="329184" cy="329184"/>
          </a:xfrm>
          <a:prstGeom prst="roundRect">
            <a:avLst>
              <a:gd name="adj" fmla="val 16667"/>
            </a:avLst>
          </a:prstGeom>
          <a:solidFill>
            <a:srgbClr val="FFFFFF"/>
          </a:solidFill>
          <a:ln w="25400">
            <a:solidFill>
              <a:srgbClr val="B7C4CA"/>
            </a:solidFill>
            <a:prstDash val="solid"/>
          </a:ln>
        </p:spPr>
      </p:sp>
      <p:sp>
        <p:nvSpPr>
          <p:cNvPr id="13" name="Text 11"/>
          <p:cNvSpPr txBox="1"/>
          <p:nvPr/>
        </p:nvSpPr>
        <p:spPr>
          <a:xfrm>
            <a:off x="960120" y="4160520"/>
            <a:ext cx="6309360" cy="548640"/>
          </a:xfrm>
          <a:prstGeom prst="rect">
            <a:avLst/>
          </a:prstGeom>
          <a:noFill/>
          <a:ln/>
        </p:spPr>
        <p:txBody>
          <a:bodyPr wrap="square" lIns="0" tIns="0" rIns="0" bIns="0" rtlCol="0" anchor="ctr"/>
          <a:lstStyle/>
          <a:p>
            <a:pPr indent="0" marL="0">
              <a:buNone/>
            </a:pPr>
            <a:r>
              <a:rPr lang="en-US" sz="1500" b="1" dirty="0">
                <a:solidFill>
                  <a:srgbClr val="5B6770"/>
                </a:solidFill>
                <a:latin typeface="Calibri" pitchFamily="34" charset="0"/>
                <a:ea typeface="Calibri" pitchFamily="34" charset="-122"/>
                <a:cs typeface="Calibri" pitchFamily="34" charset="-120"/>
              </a:rPr>
              <a:t>Stretch  </a:t>
            </a:r>
            <a:pPr indent="0" marL="0">
              <a:buNone/>
            </a:pPr>
            <a:r>
              <a:rPr lang="en-US" sz="1500" dirty="0">
                <a:solidFill>
                  <a:srgbClr val="1F2933"/>
                </a:solidFill>
                <a:latin typeface="Calibri" pitchFamily="34" charset="0"/>
                <a:ea typeface="Calibri" pitchFamily="34" charset="-122"/>
                <a:cs typeface="Calibri" pitchFamily="34" charset="-120"/>
              </a:rPr>
              <a:t>One mocked round against Track B’s node</a:t>
            </a:r>
            <a:endParaRPr lang="en-US" sz="1500" dirty="0"/>
          </a:p>
        </p:txBody>
      </p:sp>
      <p:sp>
        <p:nvSpPr>
          <p:cNvPr id="14" name="Shape 12"/>
          <p:cNvSpPr/>
          <p:nvPr/>
        </p:nvSpPr>
        <p:spPr>
          <a:xfrm>
            <a:off x="7680960" y="2057400"/>
            <a:ext cx="4050792" cy="4114800"/>
          </a:xfrm>
          <a:prstGeom prst="roundRect">
            <a:avLst>
              <a:gd name="adj" fmla="val 2257"/>
            </a:avLst>
          </a:prstGeom>
          <a:solidFill>
            <a:srgbClr val="F2F5F6"/>
          </a:solidFill>
          <a:ln w="12700">
            <a:solidFill>
              <a:srgbClr val="F2F5F6"/>
            </a:solidFill>
            <a:prstDash val="solid"/>
          </a:ln>
        </p:spPr>
      </p:sp>
      <p:sp>
        <p:nvSpPr>
          <p:cNvPr id="15" name="Text 13"/>
          <p:cNvSpPr txBox="1"/>
          <p:nvPr/>
        </p:nvSpPr>
        <p:spPr>
          <a:xfrm>
            <a:off x="7909560" y="2194560"/>
            <a:ext cx="3657600" cy="411480"/>
          </a:xfrm>
          <a:prstGeom prst="rect">
            <a:avLst/>
          </a:prstGeom>
          <a:noFill/>
          <a:ln/>
        </p:spPr>
        <p:txBody>
          <a:bodyPr wrap="square" lIns="0" tIns="0" rIns="0" bIns="0" rtlCol="0" anchor="ctr"/>
          <a:lstStyle/>
          <a:p>
            <a:pPr indent="0" marL="0">
              <a:buNone/>
            </a:pPr>
            <a:r>
              <a:rPr lang="en-US" sz="1800" b="1" dirty="0">
                <a:solidFill>
                  <a:srgbClr val="1F2933"/>
                </a:solidFill>
                <a:latin typeface="Cambria" pitchFamily="34" charset="0"/>
                <a:ea typeface="Cambria" pitchFamily="34" charset="-122"/>
                <a:cs typeface="Cambria" pitchFamily="34" charset="-120"/>
              </a:rPr>
              <a:t>Starting points</a:t>
            </a:r>
            <a:endParaRPr lang="en-US" sz="1800" dirty="0"/>
          </a:p>
        </p:txBody>
      </p:sp>
      <p:sp>
        <p:nvSpPr>
          <p:cNvPr id="16" name="Text 14"/>
          <p:cNvSpPr txBox="1"/>
          <p:nvPr/>
        </p:nvSpPr>
        <p:spPr>
          <a:xfrm>
            <a:off x="7909560" y="2697480"/>
            <a:ext cx="3657600" cy="3337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Decision D1 (framework) and D2 (dispatch)</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Flower Strategy API docs</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WES 1.1 / TES 1.1 specs</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Track A’s training-step interface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685800" cy="685800"/>
          </a:xfrm>
          <a:prstGeom prst="ellipse">
            <a:avLst/>
          </a:prstGeom>
          <a:solidFill>
            <a:srgbClr val="C9821F"/>
          </a:solidFill>
          <a:ln w="12700">
            <a:solidFill>
              <a:srgbClr val="C9821F"/>
            </a:solidFill>
            <a:prstDash val="solid"/>
          </a:ln>
        </p:spPr>
      </p:sp>
      <p:sp>
        <p:nvSpPr>
          <p:cNvPr id="3" name="Text 1"/>
          <p:cNvSpPr txBox="1"/>
          <p:nvPr/>
        </p:nvSpPr>
        <p:spPr>
          <a:xfrm>
            <a:off x="457200" y="38404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D</a:t>
            </a:r>
            <a:endParaRPr lang="en-US" sz="2600" dirty="0"/>
          </a:p>
        </p:txBody>
      </p:sp>
      <p:sp>
        <p:nvSpPr>
          <p:cNvPr id="4" name="Text 2"/>
          <p:cNvSpPr txBox="1"/>
          <p:nvPr/>
        </p:nvSpPr>
        <p:spPr>
          <a:xfrm>
            <a:off x="1325880" y="320040"/>
            <a:ext cx="8229600" cy="82296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Track D: Driver sites</a:t>
            </a:r>
            <a:endParaRPr lang="en-US" sz="3200" dirty="0"/>
          </a:p>
        </p:txBody>
      </p:sp>
      <p:sp>
        <p:nvSpPr>
          <p:cNvPr id="5" name="Text 3"/>
          <p:cNvSpPr txBox="1"/>
          <p:nvPr/>
        </p:nvSpPr>
        <p:spPr>
          <a:xfrm>
            <a:off x="8686800" y="457200"/>
            <a:ext cx="3044952" cy="548640"/>
          </a:xfrm>
          <a:prstGeom prst="rect">
            <a:avLst/>
          </a:prstGeom>
          <a:noFill/>
          <a:ln/>
        </p:spPr>
        <p:txBody>
          <a:bodyPr wrap="square" lIns="0" tIns="0" rIns="0" bIns="0" rtlCol="0" anchor="ctr"/>
          <a:lstStyle/>
          <a:p>
            <a:pPr algn="r" indent="0" marL="0">
              <a:buNone/>
            </a:pPr>
            <a:r>
              <a:rPr lang="en-US" sz="1500" b="1" dirty="0">
                <a:solidFill>
                  <a:srgbClr val="0A5857"/>
                </a:solidFill>
                <a:latin typeface="Calibri" pitchFamily="34" charset="0"/>
                <a:ea typeface="Calibri" pitchFamily="34" charset="-122"/>
                <a:cs typeface="Calibri" pitchFamily="34" charset="-120"/>
              </a:rPr>
              <a:t>Lead: Brian</a:t>
            </a:r>
            <a:endParaRPr lang="en-US" sz="1500" dirty="0"/>
          </a:p>
        </p:txBody>
      </p:sp>
      <p:sp>
        <p:nvSpPr>
          <p:cNvPr id="6" name="Text 4"/>
          <p:cNvSpPr txBox="1"/>
          <p:nvPr/>
        </p:nvSpPr>
        <p:spPr>
          <a:xfrm>
            <a:off x="457200" y="1325880"/>
            <a:ext cx="11277295" cy="548640"/>
          </a:xfrm>
          <a:prstGeom prst="rect">
            <a:avLst/>
          </a:prstGeom>
          <a:noFill/>
          <a:ln/>
        </p:spPr>
        <p:txBody>
          <a:bodyPr wrap="square" lIns="0" tIns="0" rIns="0" bIns="0" rtlCol="0" anchor="ctr"/>
          <a:lstStyle/>
          <a:p>
            <a:pPr indent="0" marL="0">
              <a:buNone/>
            </a:pPr>
            <a:r>
              <a:rPr lang="en-US" sz="1800" i="1" dirty="0">
                <a:solidFill>
                  <a:srgbClr val="1F2933"/>
                </a:solidFill>
                <a:latin typeface="Calibri" pitchFamily="34" charset="0"/>
                <a:ea typeface="Calibri" pitchFamily="34" charset="-122"/>
                <a:cs typeface="Calibri" pitchFamily="34" charset="-120"/>
              </a:rPr>
              <a:t>Know what each Driver Project can actually run, so we choose M3 sites and see blockers early.</a:t>
            </a:r>
            <a:endParaRPr lang="en-US" sz="1800" dirty="0"/>
          </a:p>
        </p:txBody>
      </p:sp>
      <p:sp>
        <p:nvSpPr>
          <p:cNvPr id="7" name="Text 5"/>
          <p:cNvSpPr txBox="1"/>
          <p:nvPr/>
        </p:nvSpPr>
        <p:spPr>
          <a:xfrm>
            <a:off x="457200" y="2057400"/>
            <a:ext cx="6400800" cy="411480"/>
          </a:xfrm>
          <a:prstGeom prst="rect">
            <a:avLst/>
          </a:prstGeom>
          <a:noFill/>
          <a:ln/>
        </p:spPr>
        <p:txBody>
          <a:bodyPr wrap="square" lIns="0" tIns="0" rIns="0" bIns="0" rtlCol="0" anchor="ctr"/>
          <a:lstStyle/>
          <a:p>
            <a:pPr indent="0" marL="0">
              <a:buNone/>
            </a:pPr>
            <a:r>
              <a:rPr lang="en-US" sz="2000" b="1" dirty="0">
                <a:solidFill>
                  <a:srgbClr val="1F2933"/>
                </a:solidFill>
                <a:latin typeface="Cambria" pitchFamily="34" charset="0"/>
                <a:ea typeface="Cambria" pitchFamily="34" charset="-122"/>
                <a:cs typeface="Cambria" pitchFamily="34" charset="-120"/>
              </a:rPr>
              <a:t>Done today</a:t>
            </a:r>
            <a:endParaRPr lang="en-US" sz="2000" dirty="0"/>
          </a:p>
        </p:txBody>
      </p:sp>
      <p:sp>
        <p:nvSpPr>
          <p:cNvPr id="8" name="Shape 6"/>
          <p:cNvSpPr/>
          <p:nvPr/>
        </p:nvSpPr>
        <p:spPr>
          <a:xfrm>
            <a:off x="457200" y="2697480"/>
            <a:ext cx="329184" cy="329184"/>
          </a:xfrm>
          <a:prstGeom prst="roundRect">
            <a:avLst>
              <a:gd name="adj" fmla="val 16667"/>
            </a:avLst>
          </a:prstGeom>
          <a:solidFill>
            <a:srgbClr val="FFFFFF"/>
          </a:solidFill>
          <a:ln w="25400">
            <a:solidFill>
              <a:srgbClr val="C9821F"/>
            </a:solidFill>
            <a:prstDash val="solid"/>
          </a:ln>
        </p:spPr>
      </p:sp>
      <p:sp>
        <p:nvSpPr>
          <p:cNvPr id="9" name="Text 7"/>
          <p:cNvSpPr txBox="1"/>
          <p:nvPr/>
        </p:nvSpPr>
        <p:spPr>
          <a:xfrm>
            <a:off x="960120" y="260604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Readiness survey completed for every Driver Project in the room</a:t>
            </a:r>
            <a:endParaRPr lang="en-US" sz="1500" dirty="0"/>
          </a:p>
        </p:txBody>
      </p:sp>
      <p:sp>
        <p:nvSpPr>
          <p:cNvPr id="10" name="Shape 8"/>
          <p:cNvSpPr/>
          <p:nvPr/>
        </p:nvSpPr>
        <p:spPr>
          <a:xfrm>
            <a:off x="457200" y="3474720"/>
            <a:ext cx="329184" cy="329184"/>
          </a:xfrm>
          <a:prstGeom prst="roundRect">
            <a:avLst>
              <a:gd name="adj" fmla="val 16667"/>
            </a:avLst>
          </a:prstGeom>
          <a:solidFill>
            <a:srgbClr val="FFFFFF"/>
          </a:solidFill>
          <a:ln w="25400">
            <a:solidFill>
              <a:srgbClr val="C9821F"/>
            </a:solidFill>
            <a:prstDash val="solid"/>
          </a:ln>
        </p:spPr>
      </p:sp>
      <p:sp>
        <p:nvSpPr>
          <p:cNvPr id="11" name="Text 9"/>
          <p:cNvSpPr txBox="1"/>
          <p:nvPr/>
        </p:nvSpPr>
        <p:spPr>
          <a:xfrm>
            <a:off x="960120" y="338328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Site matrix compiled (issue or docs/sites.md)</a:t>
            </a:r>
            <a:endParaRPr lang="en-US" sz="1500" dirty="0"/>
          </a:p>
        </p:txBody>
      </p:sp>
      <p:sp>
        <p:nvSpPr>
          <p:cNvPr id="12" name="Shape 10"/>
          <p:cNvSpPr/>
          <p:nvPr/>
        </p:nvSpPr>
        <p:spPr>
          <a:xfrm>
            <a:off x="457200" y="4251960"/>
            <a:ext cx="329184" cy="329184"/>
          </a:xfrm>
          <a:prstGeom prst="roundRect">
            <a:avLst>
              <a:gd name="adj" fmla="val 16667"/>
            </a:avLst>
          </a:prstGeom>
          <a:solidFill>
            <a:srgbClr val="FFFFFF"/>
          </a:solidFill>
          <a:ln w="25400">
            <a:solidFill>
              <a:srgbClr val="C9821F"/>
            </a:solidFill>
            <a:prstDash val="solid"/>
          </a:ln>
        </p:spPr>
      </p:sp>
      <p:sp>
        <p:nvSpPr>
          <p:cNvPr id="13" name="Text 11"/>
          <p:cNvSpPr txBox="1"/>
          <p:nvPr/>
        </p:nvSpPr>
        <p:spPr>
          <a:xfrm>
            <a:off x="960120" y="4160520"/>
            <a:ext cx="6309360" cy="548640"/>
          </a:xfrm>
          <a:prstGeom prst="rect">
            <a:avLst/>
          </a:prstGeom>
          <a:noFill/>
          <a:ln/>
        </p:spPr>
        <p:txBody>
          <a:bodyPr wrap="square" lIns="0" tIns="0" rIns="0" bIns="0" rtlCol="0" anchor="ctr"/>
          <a:lstStyle/>
          <a:p>
            <a:pPr indent="0" marL="0">
              <a:buNone/>
            </a:pPr>
            <a:pPr indent="0" marL="0">
              <a:buNone/>
            </a:pPr>
            <a:r>
              <a:rPr lang="en-US" sz="1500" dirty="0">
                <a:solidFill>
                  <a:srgbClr val="1F2933"/>
                </a:solidFill>
                <a:latin typeface="Calibri" pitchFamily="34" charset="0"/>
                <a:ea typeface="Calibri" pitchFamily="34" charset="-122"/>
                <a:cs typeface="Calibri" pitchFamily="34" charset="-120"/>
              </a:rPr>
              <a:t>Network and governance concerns logged as issues</a:t>
            </a:r>
            <a:endParaRPr lang="en-US" sz="1500" dirty="0"/>
          </a:p>
        </p:txBody>
      </p:sp>
      <p:sp>
        <p:nvSpPr>
          <p:cNvPr id="14" name="Shape 12"/>
          <p:cNvSpPr/>
          <p:nvPr/>
        </p:nvSpPr>
        <p:spPr>
          <a:xfrm>
            <a:off x="457200" y="5029200"/>
            <a:ext cx="329184" cy="329184"/>
          </a:xfrm>
          <a:prstGeom prst="roundRect">
            <a:avLst>
              <a:gd name="adj" fmla="val 16667"/>
            </a:avLst>
          </a:prstGeom>
          <a:solidFill>
            <a:srgbClr val="FFFFFF"/>
          </a:solidFill>
          <a:ln w="25400">
            <a:solidFill>
              <a:srgbClr val="B7C4CA"/>
            </a:solidFill>
            <a:prstDash val="solid"/>
          </a:ln>
        </p:spPr>
      </p:sp>
      <p:sp>
        <p:nvSpPr>
          <p:cNvPr id="15" name="Text 13"/>
          <p:cNvSpPr txBox="1"/>
          <p:nvPr/>
        </p:nvSpPr>
        <p:spPr>
          <a:xfrm>
            <a:off x="960120" y="4937760"/>
            <a:ext cx="6309360" cy="548640"/>
          </a:xfrm>
          <a:prstGeom prst="rect">
            <a:avLst/>
          </a:prstGeom>
          <a:noFill/>
          <a:ln/>
        </p:spPr>
        <p:txBody>
          <a:bodyPr wrap="square" lIns="0" tIns="0" rIns="0" bIns="0" rtlCol="0" anchor="ctr"/>
          <a:lstStyle/>
          <a:p>
            <a:pPr indent="0" marL="0">
              <a:buNone/>
            </a:pPr>
            <a:r>
              <a:rPr lang="en-US" sz="1500" b="1" dirty="0">
                <a:solidFill>
                  <a:srgbClr val="5B6770"/>
                </a:solidFill>
                <a:latin typeface="Calibri" pitchFamily="34" charset="0"/>
                <a:ea typeface="Calibri" pitchFamily="34" charset="-122"/>
                <a:cs typeface="Calibri" pitchFamily="34" charset="-120"/>
              </a:rPr>
              <a:t>Stretch  </a:t>
            </a:r>
            <a:pPr indent="0" marL="0">
              <a:buNone/>
            </a:pPr>
            <a:r>
              <a:rPr lang="en-US" sz="1500" dirty="0">
                <a:solidFill>
                  <a:srgbClr val="1F2933"/>
                </a:solidFill>
                <a:latin typeface="Calibri" pitchFamily="34" charset="0"/>
                <a:ea typeface="Calibri" pitchFamily="34" charset="-122"/>
                <a:cs typeface="Calibri" pitchFamily="34" charset="-120"/>
              </a:rPr>
              <a:t>Candidate sites for M3 (mid-Nov) and M4 (Jan) identified</a:t>
            </a:r>
            <a:endParaRPr lang="en-US" sz="1500" dirty="0"/>
          </a:p>
        </p:txBody>
      </p:sp>
      <p:sp>
        <p:nvSpPr>
          <p:cNvPr id="16" name="Shape 14"/>
          <p:cNvSpPr/>
          <p:nvPr/>
        </p:nvSpPr>
        <p:spPr>
          <a:xfrm>
            <a:off x="7680960" y="2057400"/>
            <a:ext cx="4050792" cy="4114800"/>
          </a:xfrm>
          <a:prstGeom prst="roundRect">
            <a:avLst>
              <a:gd name="adj" fmla="val 2257"/>
            </a:avLst>
          </a:prstGeom>
          <a:solidFill>
            <a:srgbClr val="F2F5F6"/>
          </a:solidFill>
          <a:ln w="12700">
            <a:solidFill>
              <a:srgbClr val="F2F5F6"/>
            </a:solidFill>
            <a:prstDash val="solid"/>
          </a:ln>
        </p:spPr>
      </p:sp>
      <p:sp>
        <p:nvSpPr>
          <p:cNvPr id="17" name="Text 15"/>
          <p:cNvSpPr txBox="1"/>
          <p:nvPr/>
        </p:nvSpPr>
        <p:spPr>
          <a:xfrm>
            <a:off x="7909560" y="2194560"/>
            <a:ext cx="3657600" cy="411480"/>
          </a:xfrm>
          <a:prstGeom prst="rect">
            <a:avLst/>
          </a:prstGeom>
          <a:noFill/>
          <a:ln/>
        </p:spPr>
        <p:txBody>
          <a:bodyPr wrap="square" lIns="0" tIns="0" rIns="0" bIns="0" rtlCol="0" anchor="ctr"/>
          <a:lstStyle/>
          <a:p>
            <a:pPr indent="0" marL="0">
              <a:buNone/>
            </a:pPr>
            <a:r>
              <a:rPr lang="en-US" sz="1800" b="1" dirty="0">
                <a:solidFill>
                  <a:srgbClr val="1F2933"/>
                </a:solidFill>
                <a:latin typeface="Cambria" pitchFamily="34" charset="0"/>
                <a:ea typeface="Cambria" pitchFamily="34" charset="-122"/>
                <a:cs typeface="Cambria" pitchFamily="34" charset="-120"/>
              </a:rPr>
              <a:t>Survey covers</a:t>
            </a:r>
            <a:endParaRPr lang="en-US" sz="1800" dirty="0"/>
          </a:p>
        </p:txBody>
      </p:sp>
      <p:sp>
        <p:nvSpPr>
          <p:cNvPr id="18" name="Text 16"/>
          <p:cNvSpPr txBox="1"/>
          <p:nvPr/>
        </p:nvSpPr>
        <p:spPr>
          <a:xfrm>
            <a:off x="7909560" y="2697480"/>
            <a:ext cx="3657600" cy="33375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Contact · compute (cloud / on-prem / K8s / HPC)</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Docker, or Apptainer only?</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Inbound HTTPS endpoint possible?</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GPU · existing GA4GH services</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Governance steps and lead time</a:t>
            </a:r>
            <a:endParaRPr lang="en-US" sz="1350" dirty="0"/>
          </a:p>
          <a:p>
            <a:pPr marL="342900" indent="-342900">
              <a:spcAft>
                <a:spcPts val="600"/>
              </a:spcAft>
              <a:buSzPct val="100000"/>
              <a:buChar char="•"/>
            </a:pPr>
            <a:r>
              <a:rPr lang="en-US" sz="1350" dirty="0">
                <a:solidFill>
                  <a:srgbClr val="1F2933"/>
                </a:solidFill>
                <a:latin typeface="Calibri" pitchFamily="34" charset="0"/>
                <a:ea typeface="Calibri" pitchFamily="34" charset="-122"/>
                <a:cs typeface="Calibri" pitchFamily="34" charset="-120"/>
              </a:rPr>
              <a:t>Timing · ancestry context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Hit a gap? Log it now.</a:t>
            </a:r>
            <a:endParaRPr lang="en-US" sz="3200" dirty="0"/>
          </a:p>
        </p:txBody>
      </p:sp>
      <p:sp>
        <p:nvSpPr>
          <p:cNvPr id="3" name="Text 1"/>
          <p:cNvSpPr txBox="1"/>
          <p:nvPr/>
        </p:nvSpPr>
        <p:spPr>
          <a:xfrm>
            <a:off x="457200" y="1005840"/>
            <a:ext cx="11277295" cy="41148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The gap report is compiled from these issues, so file them today, not from memory later.</a:t>
            </a:r>
            <a:endParaRPr lang="en-US" sz="1500" dirty="0"/>
          </a:p>
        </p:txBody>
      </p:sp>
      <p:sp>
        <p:nvSpPr>
          <p:cNvPr id="4" name="Shape 2"/>
          <p:cNvSpPr/>
          <p:nvPr/>
        </p:nvSpPr>
        <p:spPr>
          <a:xfrm>
            <a:off x="457200" y="1828800"/>
            <a:ext cx="2103120" cy="2606040"/>
          </a:xfrm>
          <a:prstGeom prst="roundRect">
            <a:avLst>
              <a:gd name="adj" fmla="val 4348"/>
            </a:avLst>
          </a:prstGeom>
          <a:solidFill>
            <a:srgbClr val="F2F5F6"/>
          </a:solidFill>
          <a:ln w="12700">
            <a:solidFill>
              <a:srgbClr val="F2F5F6"/>
            </a:solidFill>
            <a:prstDash val="solid"/>
          </a:ln>
        </p:spPr>
      </p:sp>
      <p:sp>
        <p:nvSpPr>
          <p:cNvPr id="5" name="Shape 3"/>
          <p:cNvSpPr/>
          <p:nvPr/>
        </p:nvSpPr>
        <p:spPr>
          <a:xfrm>
            <a:off x="640080" y="2011680"/>
            <a:ext cx="457200" cy="457200"/>
          </a:xfrm>
          <a:prstGeom prst="ellipse">
            <a:avLst/>
          </a:prstGeom>
          <a:solidFill>
            <a:srgbClr val="0E7C7B"/>
          </a:solidFill>
          <a:ln w="12700">
            <a:solidFill>
              <a:srgbClr val="0E7C7B"/>
            </a:solidFill>
            <a:prstDash val="solid"/>
          </a:ln>
        </p:spPr>
      </p:sp>
      <p:sp>
        <p:nvSpPr>
          <p:cNvPr id="6" name="Text 4"/>
          <p:cNvSpPr txBox="1"/>
          <p:nvPr/>
        </p:nvSpPr>
        <p:spPr>
          <a:xfrm>
            <a:off x="64008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640080" y="2606040"/>
            <a:ext cx="1783080" cy="548640"/>
          </a:xfrm>
          <a:prstGeom prst="rect">
            <a:avLst/>
          </a:prstGeom>
          <a:noFill/>
          <a:ln/>
        </p:spPr>
        <p:txBody>
          <a:bodyPr wrap="square" lIns="0" tIns="0" rIns="0" bIns="0" rtlCol="0" anchor="t"/>
          <a:lstStyle/>
          <a:p>
            <a:pPr indent="0" marL="0">
              <a:buNone/>
            </a:pPr>
            <a:r>
              <a:rPr lang="en-US" sz="1550" b="1" dirty="0">
                <a:solidFill>
                  <a:srgbClr val="1F2933"/>
                </a:solidFill>
                <a:latin typeface="Calibri" pitchFamily="34" charset="0"/>
                <a:ea typeface="Calibri" pitchFamily="34" charset="-122"/>
                <a:cs typeface="Calibri" pitchFamily="34" charset="-120"/>
              </a:rPr>
              <a:t>Hit something</a:t>
            </a:r>
            <a:endParaRPr lang="en-US" sz="1550" dirty="0"/>
          </a:p>
        </p:txBody>
      </p:sp>
      <p:sp>
        <p:nvSpPr>
          <p:cNvPr id="8" name="Text 6"/>
          <p:cNvSpPr txBox="1"/>
          <p:nvPr/>
        </p:nvSpPr>
        <p:spPr>
          <a:xfrm>
            <a:off x="640080" y="3200400"/>
            <a:ext cx="1783080" cy="1188720"/>
          </a:xfrm>
          <a:prstGeom prst="rect">
            <a:avLst/>
          </a:prstGeom>
          <a:noFill/>
          <a:ln/>
        </p:spPr>
        <p:txBody>
          <a:bodyPr wrap="square" lIns="0" tIns="0" rIns="0" bIns="0" rtlCol="0" anchor="t"/>
          <a:lstStyle/>
          <a:p>
            <a:pPr indent="0" marL="0">
              <a:buNone/>
            </a:pPr>
            <a:r>
              <a:rPr lang="en-US" sz="1350" dirty="0">
                <a:solidFill>
                  <a:srgbClr val="5B6770"/>
                </a:solidFill>
                <a:latin typeface="Calibri" pitchFamily="34" charset="0"/>
                <a:ea typeface="Calibri" pitchFamily="34" charset="-122"/>
                <a:cs typeface="Calibri" pitchFamily="34" charset="-120"/>
              </a:rPr>
              <a:t>The spec can’t express it, or you had to work around it</a:t>
            </a:r>
            <a:endParaRPr lang="en-US" sz="1350" dirty="0"/>
          </a:p>
        </p:txBody>
      </p:sp>
      <p:sp>
        <p:nvSpPr>
          <p:cNvPr id="9" name="Shape 7"/>
          <p:cNvSpPr/>
          <p:nvPr/>
        </p:nvSpPr>
        <p:spPr>
          <a:xfrm>
            <a:off x="2578608" y="3017520"/>
            <a:ext cx="173736" cy="0"/>
          </a:xfrm>
          <a:prstGeom prst="line">
            <a:avLst/>
          </a:prstGeom>
          <a:noFill/>
          <a:ln w="25400">
            <a:solidFill>
              <a:srgbClr val="B7C4CA"/>
            </a:solidFill>
            <a:prstDash val="solid"/>
            <a:tailEnd type="triangle"/>
          </a:ln>
        </p:spPr>
      </p:sp>
      <p:sp>
        <p:nvSpPr>
          <p:cNvPr id="10" name="Shape 8"/>
          <p:cNvSpPr/>
          <p:nvPr/>
        </p:nvSpPr>
        <p:spPr>
          <a:xfrm>
            <a:off x="2770632" y="1828800"/>
            <a:ext cx="2103120" cy="2606040"/>
          </a:xfrm>
          <a:prstGeom prst="roundRect">
            <a:avLst>
              <a:gd name="adj" fmla="val 4348"/>
            </a:avLst>
          </a:prstGeom>
          <a:solidFill>
            <a:srgbClr val="F2F5F6"/>
          </a:solidFill>
          <a:ln w="12700">
            <a:solidFill>
              <a:srgbClr val="F2F5F6"/>
            </a:solidFill>
            <a:prstDash val="solid"/>
          </a:ln>
        </p:spPr>
      </p:sp>
      <p:sp>
        <p:nvSpPr>
          <p:cNvPr id="11" name="Shape 9"/>
          <p:cNvSpPr/>
          <p:nvPr/>
        </p:nvSpPr>
        <p:spPr>
          <a:xfrm>
            <a:off x="2953512" y="2011680"/>
            <a:ext cx="457200" cy="457200"/>
          </a:xfrm>
          <a:prstGeom prst="ellipse">
            <a:avLst/>
          </a:prstGeom>
          <a:solidFill>
            <a:srgbClr val="0E7C7B"/>
          </a:solidFill>
          <a:ln w="12700">
            <a:solidFill>
              <a:srgbClr val="0E7C7B"/>
            </a:solidFill>
            <a:prstDash val="solid"/>
          </a:ln>
        </p:spPr>
      </p:sp>
      <p:sp>
        <p:nvSpPr>
          <p:cNvPr id="12" name="Text 10"/>
          <p:cNvSpPr txBox="1"/>
          <p:nvPr/>
        </p:nvSpPr>
        <p:spPr>
          <a:xfrm>
            <a:off x="2953512"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2953512" y="2606040"/>
            <a:ext cx="1783080" cy="548640"/>
          </a:xfrm>
          <a:prstGeom prst="rect">
            <a:avLst/>
          </a:prstGeom>
          <a:noFill/>
          <a:ln/>
        </p:spPr>
        <p:txBody>
          <a:bodyPr wrap="square" lIns="0" tIns="0" rIns="0" bIns="0" rtlCol="0" anchor="t"/>
          <a:lstStyle/>
          <a:p>
            <a:pPr indent="0" marL="0">
              <a:buNone/>
            </a:pPr>
            <a:r>
              <a:rPr lang="en-US" sz="1550" b="1" dirty="0">
                <a:solidFill>
                  <a:srgbClr val="1F2933"/>
                </a:solidFill>
                <a:latin typeface="Calibri" pitchFamily="34" charset="0"/>
                <a:ea typeface="Calibri" pitchFamily="34" charset="-122"/>
                <a:cs typeface="Calibri" pitchFamily="34" charset="-120"/>
              </a:rPr>
              <a:t>Spec or implementation?</a:t>
            </a:r>
            <a:endParaRPr lang="en-US" sz="1550" dirty="0"/>
          </a:p>
        </p:txBody>
      </p:sp>
      <p:sp>
        <p:nvSpPr>
          <p:cNvPr id="14" name="Text 12"/>
          <p:cNvSpPr txBox="1"/>
          <p:nvPr/>
        </p:nvSpPr>
        <p:spPr>
          <a:xfrm>
            <a:off x="2953512" y="3200400"/>
            <a:ext cx="1783080" cy="1188720"/>
          </a:xfrm>
          <a:prstGeom prst="rect">
            <a:avLst/>
          </a:prstGeom>
          <a:noFill/>
          <a:ln/>
        </p:spPr>
        <p:txBody>
          <a:bodyPr wrap="square" lIns="0" tIns="0" rIns="0" bIns="0" rtlCol="0" anchor="t"/>
          <a:lstStyle/>
          <a:p>
            <a:pPr indent="0" marL="0">
              <a:buNone/>
            </a:pPr>
            <a:r>
              <a:rPr lang="en-US" sz="1350" dirty="0">
                <a:solidFill>
                  <a:srgbClr val="5B6770"/>
                </a:solidFill>
                <a:latin typeface="Calibri" pitchFamily="34" charset="0"/>
                <a:ea typeface="Calibri" pitchFamily="34" charset="-122"/>
                <a:cs typeface="Calibri" pitchFamily="34" charset="-120"/>
              </a:rPr>
              <a:t>Implementation bug → that implementation’s repo. Spec gap → here.</a:t>
            </a:r>
            <a:endParaRPr lang="en-US" sz="1350" dirty="0"/>
          </a:p>
        </p:txBody>
      </p:sp>
      <p:sp>
        <p:nvSpPr>
          <p:cNvPr id="15" name="Shape 13"/>
          <p:cNvSpPr/>
          <p:nvPr/>
        </p:nvSpPr>
        <p:spPr>
          <a:xfrm>
            <a:off x="4892040" y="3017520"/>
            <a:ext cx="173736" cy="0"/>
          </a:xfrm>
          <a:prstGeom prst="line">
            <a:avLst/>
          </a:prstGeom>
          <a:noFill/>
          <a:ln w="25400">
            <a:solidFill>
              <a:srgbClr val="B7C4CA"/>
            </a:solidFill>
            <a:prstDash val="solid"/>
            <a:tailEnd type="triangle"/>
          </a:ln>
        </p:spPr>
      </p:sp>
      <p:sp>
        <p:nvSpPr>
          <p:cNvPr id="16" name="Shape 14"/>
          <p:cNvSpPr/>
          <p:nvPr/>
        </p:nvSpPr>
        <p:spPr>
          <a:xfrm>
            <a:off x="5084064" y="1828800"/>
            <a:ext cx="2103120" cy="2606040"/>
          </a:xfrm>
          <a:prstGeom prst="roundRect">
            <a:avLst>
              <a:gd name="adj" fmla="val 4348"/>
            </a:avLst>
          </a:prstGeom>
          <a:solidFill>
            <a:srgbClr val="FCEBD2"/>
          </a:solidFill>
          <a:ln w="12700">
            <a:solidFill>
              <a:srgbClr val="C9821F"/>
            </a:solidFill>
            <a:prstDash val="solid"/>
          </a:ln>
        </p:spPr>
      </p:sp>
      <p:sp>
        <p:nvSpPr>
          <p:cNvPr id="17" name="Shape 15"/>
          <p:cNvSpPr/>
          <p:nvPr/>
        </p:nvSpPr>
        <p:spPr>
          <a:xfrm>
            <a:off x="5266944" y="2011680"/>
            <a:ext cx="457200" cy="457200"/>
          </a:xfrm>
          <a:prstGeom prst="ellipse">
            <a:avLst/>
          </a:prstGeom>
          <a:solidFill>
            <a:srgbClr val="C9821F"/>
          </a:solidFill>
          <a:ln w="12700">
            <a:solidFill>
              <a:srgbClr val="C9821F"/>
            </a:solidFill>
            <a:prstDash val="solid"/>
          </a:ln>
        </p:spPr>
      </p:sp>
      <p:sp>
        <p:nvSpPr>
          <p:cNvPr id="18" name="Text 16"/>
          <p:cNvSpPr txBox="1"/>
          <p:nvPr/>
        </p:nvSpPr>
        <p:spPr>
          <a:xfrm>
            <a:off x="5266944"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5266944" y="2606040"/>
            <a:ext cx="1783080" cy="548640"/>
          </a:xfrm>
          <a:prstGeom prst="rect">
            <a:avLst/>
          </a:prstGeom>
          <a:noFill/>
          <a:ln/>
        </p:spPr>
        <p:txBody>
          <a:bodyPr wrap="square" lIns="0" tIns="0" rIns="0" bIns="0" rtlCol="0" anchor="t"/>
          <a:lstStyle/>
          <a:p>
            <a:pPr indent="0" marL="0">
              <a:buNone/>
            </a:pPr>
            <a:r>
              <a:rPr lang="en-US" sz="1550" b="1" dirty="0">
                <a:solidFill>
                  <a:srgbClr val="1F2933"/>
                </a:solidFill>
                <a:latin typeface="Calibri" pitchFamily="34" charset="0"/>
                <a:ea typeface="Calibri" pitchFamily="34" charset="-122"/>
                <a:cs typeface="Calibri" pitchFamily="34" charset="-120"/>
              </a:rPr>
              <a:t>Open an API gap issue</a:t>
            </a:r>
            <a:endParaRPr lang="en-US" sz="1550" dirty="0"/>
          </a:p>
        </p:txBody>
      </p:sp>
      <p:sp>
        <p:nvSpPr>
          <p:cNvPr id="20" name="Text 18"/>
          <p:cNvSpPr txBox="1"/>
          <p:nvPr/>
        </p:nvSpPr>
        <p:spPr>
          <a:xfrm>
            <a:off x="5266944" y="3200400"/>
            <a:ext cx="1783080" cy="1188720"/>
          </a:xfrm>
          <a:prstGeom prst="rect">
            <a:avLst/>
          </a:prstGeom>
          <a:noFill/>
          <a:ln/>
        </p:spPr>
        <p:txBody>
          <a:bodyPr wrap="square" lIns="0" tIns="0" rIns="0" bIns="0" rtlCol="0" anchor="t"/>
          <a:lstStyle/>
          <a:p>
            <a:pPr indent="0" marL="0">
              <a:buNone/>
            </a:pPr>
            <a:r>
              <a:rPr lang="en-US" sz="1350" dirty="0">
                <a:solidFill>
                  <a:srgbClr val="5B6770"/>
                </a:solidFill>
                <a:latin typeface="Calibri" pitchFamily="34" charset="0"/>
                <a:ea typeface="Calibri" pitchFamily="34" charset="-122"/>
                <a:cs typeface="Calibri" pitchFamily="34" charset="-120"/>
              </a:rPr>
              <a:t>Template applies api-gap. Add api:drs|wes|tes|passport|trs|service-info</a:t>
            </a:r>
            <a:endParaRPr lang="en-US" sz="1350" dirty="0"/>
          </a:p>
        </p:txBody>
      </p:sp>
      <p:sp>
        <p:nvSpPr>
          <p:cNvPr id="21" name="Shape 19"/>
          <p:cNvSpPr/>
          <p:nvPr/>
        </p:nvSpPr>
        <p:spPr>
          <a:xfrm>
            <a:off x="7205472" y="3017520"/>
            <a:ext cx="173736" cy="0"/>
          </a:xfrm>
          <a:prstGeom prst="line">
            <a:avLst/>
          </a:prstGeom>
          <a:noFill/>
          <a:ln w="25400">
            <a:solidFill>
              <a:srgbClr val="B7C4CA"/>
            </a:solidFill>
            <a:prstDash val="solid"/>
            <a:tailEnd type="triangle"/>
          </a:ln>
        </p:spPr>
      </p:sp>
      <p:sp>
        <p:nvSpPr>
          <p:cNvPr id="22" name="Shape 20"/>
          <p:cNvSpPr/>
          <p:nvPr/>
        </p:nvSpPr>
        <p:spPr>
          <a:xfrm>
            <a:off x="7397496" y="1828800"/>
            <a:ext cx="2103120" cy="2606040"/>
          </a:xfrm>
          <a:prstGeom prst="roundRect">
            <a:avLst>
              <a:gd name="adj" fmla="val 4348"/>
            </a:avLst>
          </a:prstGeom>
          <a:solidFill>
            <a:srgbClr val="F2F5F6"/>
          </a:solidFill>
          <a:ln w="12700">
            <a:solidFill>
              <a:srgbClr val="F2F5F6"/>
            </a:solidFill>
            <a:prstDash val="solid"/>
          </a:ln>
        </p:spPr>
      </p:sp>
      <p:sp>
        <p:nvSpPr>
          <p:cNvPr id="23" name="Shape 21"/>
          <p:cNvSpPr/>
          <p:nvPr/>
        </p:nvSpPr>
        <p:spPr>
          <a:xfrm>
            <a:off x="7580376" y="2011680"/>
            <a:ext cx="457200" cy="457200"/>
          </a:xfrm>
          <a:prstGeom prst="ellipse">
            <a:avLst/>
          </a:prstGeom>
          <a:solidFill>
            <a:srgbClr val="0E7C7B"/>
          </a:solidFill>
          <a:ln w="12700">
            <a:solidFill>
              <a:srgbClr val="0E7C7B"/>
            </a:solidFill>
            <a:prstDash val="solid"/>
          </a:ln>
        </p:spPr>
      </p:sp>
      <p:sp>
        <p:nvSpPr>
          <p:cNvPr id="24" name="Text 22"/>
          <p:cNvSpPr txBox="1"/>
          <p:nvPr/>
        </p:nvSpPr>
        <p:spPr>
          <a:xfrm>
            <a:off x="7580376"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7580376" y="2606040"/>
            <a:ext cx="1783080" cy="548640"/>
          </a:xfrm>
          <a:prstGeom prst="rect">
            <a:avLst/>
          </a:prstGeom>
          <a:noFill/>
          <a:ln/>
        </p:spPr>
        <p:txBody>
          <a:bodyPr wrap="square" lIns="0" tIns="0" rIns="0" bIns="0" rtlCol="0" anchor="t"/>
          <a:lstStyle/>
          <a:p>
            <a:pPr indent="0" marL="0">
              <a:buNone/>
            </a:pPr>
            <a:r>
              <a:rPr lang="en-US" sz="1550" b="1" dirty="0">
                <a:solidFill>
                  <a:srgbClr val="1F2933"/>
                </a:solidFill>
                <a:latin typeface="Calibri" pitchFamily="34" charset="0"/>
                <a:ea typeface="Calibri" pitchFamily="34" charset="-122"/>
                <a:cs typeface="Calibri" pitchFamily="34" charset="-120"/>
              </a:rPr>
              <a:t>Set severity</a:t>
            </a:r>
            <a:endParaRPr lang="en-US" sz="1550" dirty="0"/>
          </a:p>
        </p:txBody>
      </p:sp>
      <p:sp>
        <p:nvSpPr>
          <p:cNvPr id="26" name="Text 24"/>
          <p:cNvSpPr txBox="1"/>
          <p:nvPr/>
        </p:nvSpPr>
        <p:spPr>
          <a:xfrm>
            <a:off x="7580376" y="3200400"/>
            <a:ext cx="1783080" cy="1188720"/>
          </a:xfrm>
          <a:prstGeom prst="rect">
            <a:avLst/>
          </a:prstGeom>
          <a:noFill/>
          <a:ln/>
        </p:spPr>
        <p:txBody>
          <a:bodyPr wrap="square" lIns="0" tIns="0" rIns="0" bIns="0" rtlCol="0" anchor="t"/>
          <a:lstStyle/>
          <a:p>
            <a:pPr indent="0" marL="0">
              <a:buNone/>
            </a:pPr>
            <a:r>
              <a:rPr lang="en-US" sz="1350" dirty="0">
                <a:solidFill>
                  <a:srgbClr val="5B6770"/>
                </a:solidFill>
                <a:latin typeface="Calibri" pitchFamily="34" charset="0"/>
                <a:ea typeface="Calibri" pitchFamily="34" charset="-122"/>
                <a:cs typeface="Calibri" pitchFamily="34" charset="-120"/>
              </a:rPr>
              <a:t>gap:blocker · gap:workaround · gap:nice-to-have</a:t>
            </a:r>
            <a:endParaRPr lang="en-US" sz="1350" dirty="0"/>
          </a:p>
        </p:txBody>
      </p:sp>
      <p:sp>
        <p:nvSpPr>
          <p:cNvPr id="27" name="Shape 25"/>
          <p:cNvSpPr/>
          <p:nvPr/>
        </p:nvSpPr>
        <p:spPr>
          <a:xfrm>
            <a:off x="9518904" y="3017520"/>
            <a:ext cx="173736" cy="0"/>
          </a:xfrm>
          <a:prstGeom prst="line">
            <a:avLst/>
          </a:prstGeom>
          <a:noFill/>
          <a:ln w="25400">
            <a:solidFill>
              <a:srgbClr val="B7C4CA"/>
            </a:solidFill>
            <a:prstDash val="solid"/>
            <a:tailEnd type="triangle"/>
          </a:ln>
        </p:spPr>
      </p:sp>
      <p:sp>
        <p:nvSpPr>
          <p:cNvPr id="28" name="Shape 26"/>
          <p:cNvSpPr/>
          <p:nvPr/>
        </p:nvSpPr>
        <p:spPr>
          <a:xfrm>
            <a:off x="9710928" y="1828800"/>
            <a:ext cx="2103120" cy="2606040"/>
          </a:xfrm>
          <a:prstGeom prst="roundRect">
            <a:avLst>
              <a:gd name="adj" fmla="val 4348"/>
            </a:avLst>
          </a:prstGeom>
          <a:solidFill>
            <a:srgbClr val="F2F5F6"/>
          </a:solidFill>
          <a:ln w="12700">
            <a:solidFill>
              <a:srgbClr val="F2F5F6"/>
            </a:solidFill>
            <a:prstDash val="solid"/>
          </a:ln>
        </p:spPr>
      </p:sp>
      <p:sp>
        <p:nvSpPr>
          <p:cNvPr id="29" name="Shape 27"/>
          <p:cNvSpPr/>
          <p:nvPr/>
        </p:nvSpPr>
        <p:spPr>
          <a:xfrm>
            <a:off x="9893808" y="2011680"/>
            <a:ext cx="457200" cy="457200"/>
          </a:xfrm>
          <a:prstGeom prst="ellipse">
            <a:avLst/>
          </a:prstGeom>
          <a:solidFill>
            <a:srgbClr val="0E7C7B"/>
          </a:solidFill>
          <a:ln w="12700">
            <a:solidFill>
              <a:srgbClr val="0E7C7B"/>
            </a:solidFill>
            <a:prstDash val="solid"/>
          </a:ln>
        </p:spPr>
      </p:sp>
      <p:sp>
        <p:nvSpPr>
          <p:cNvPr id="30" name="Text 28"/>
          <p:cNvSpPr txBox="1"/>
          <p:nvPr/>
        </p:nvSpPr>
        <p:spPr>
          <a:xfrm>
            <a:off x="989380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txBox="1"/>
          <p:nvPr/>
        </p:nvSpPr>
        <p:spPr>
          <a:xfrm>
            <a:off x="9893808" y="2606040"/>
            <a:ext cx="1783080" cy="548640"/>
          </a:xfrm>
          <a:prstGeom prst="rect">
            <a:avLst/>
          </a:prstGeom>
          <a:noFill/>
          <a:ln/>
        </p:spPr>
        <p:txBody>
          <a:bodyPr wrap="square" lIns="0" tIns="0" rIns="0" bIns="0" rtlCol="0" anchor="t"/>
          <a:lstStyle/>
          <a:p>
            <a:pPr indent="0" marL="0">
              <a:buNone/>
            </a:pPr>
            <a:r>
              <a:rPr lang="en-US" sz="1550" b="1" dirty="0">
                <a:solidFill>
                  <a:srgbClr val="1F2933"/>
                </a:solidFill>
                <a:latin typeface="Calibri" pitchFamily="34" charset="0"/>
                <a:ea typeface="Calibri" pitchFamily="34" charset="-122"/>
                <a:cs typeface="Calibri" pitchFamily="34" charset="-120"/>
              </a:rPr>
              <a:t>Mark the code</a:t>
            </a:r>
            <a:endParaRPr lang="en-US" sz="1550" dirty="0"/>
          </a:p>
        </p:txBody>
      </p:sp>
      <p:sp>
        <p:nvSpPr>
          <p:cNvPr id="32" name="Text 30"/>
          <p:cNvSpPr txBox="1"/>
          <p:nvPr/>
        </p:nvSpPr>
        <p:spPr>
          <a:xfrm>
            <a:off x="9893808" y="3200400"/>
            <a:ext cx="1783080" cy="1188720"/>
          </a:xfrm>
          <a:prstGeom prst="rect">
            <a:avLst/>
          </a:prstGeom>
          <a:noFill/>
          <a:ln/>
        </p:spPr>
        <p:txBody>
          <a:bodyPr wrap="square" lIns="0" tIns="0" rIns="0" bIns="0" rtlCol="0" anchor="t"/>
          <a:lstStyle/>
          <a:p>
            <a:pPr indent="0" marL="0">
              <a:buNone/>
            </a:pPr>
            <a:r>
              <a:rPr lang="en-US" sz="1350" dirty="0">
                <a:solidFill>
                  <a:srgbClr val="5B6770"/>
                </a:solidFill>
                <a:latin typeface="Calibri" pitchFamily="34" charset="0"/>
                <a:ea typeface="Calibri" pitchFamily="34" charset="-122"/>
                <a:cs typeface="Calibri" pitchFamily="34" charset="-120"/>
              </a:rPr>
              <a:t># API-GAP: #123 at the workaround</a:t>
            </a:r>
            <a:endParaRPr lang="en-US" sz="1350" dirty="0"/>
          </a:p>
        </p:txBody>
      </p:sp>
      <p:sp>
        <p:nvSpPr>
          <p:cNvPr id="33" name="Shape 31"/>
          <p:cNvSpPr/>
          <p:nvPr/>
        </p:nvSpPr>
        <p:spPr>
          <a:xfrm>
            <a:off x="457200" y="4800600"/>
            <a:ext cx="11277295" cy="1280160"/>
          </a:xfrm>
          <a:prstGeom prst="roundRect">
            <a:avLst>
              <a:gd name="adj" fmla="val 7143"/>
            </a:avLst>
          </a:prstGeom>
          <a:solidFill>
            <a:srgbClr val="FFFFFF"/>
          </a:solidFill>
          <a:ln w="12700">
            <a:solidFill>
              <a:srgbClr val="D5DDE1"/>
            </a:solidFill>
            <a:prstDash val="solid"/>
          </a:ln>
        </p:spPr>
      </p:sp>
      <p:sp>
        <p:nvSpPr>
          <p:cNvPr id="34" name="Text 32"/>
          <p:cNvSpPr txBox="1"/>
          <p:nvPr/>
        </p:nvSpPr>
        <p:spPr>
          <a:xfrm>
            <a:off x="731520" y="4846320"/>
            <a:ext cx="10728655" cy="118872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After today: </a:t>
            </a:r>
            <a:pPr indent="0" marL="0">
              <a:buNone/>
            </a:pPr>
            <a:r>
              <a:rPr lang="en-US" sz="1500" dirty="0">
                <a:solidFill>
                  <a:srgbClr val="1F2933"/>
                </a:solidFill>
                <a:latin typeface="Calibri" pitchFamily="34" charset="0"/>
                <a:ea typeface="Calibri" pitchFamily="34" charset="-122"/>
                <a:cs typeface="Calibri" pitchFamily="34" charset="-120"/>
              </a:rPr>
              <a:t>new api-gap issues are triaged at each biweekly sync. Blockers go to the relevant spec’s maintainers right away as an issue on that spec’s repo, linked back here. The final report to the Federated Analysis Work Stream and FLWG is grouped by API.</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Report-outs: 5 minutes per track</a:t>
            </a:r>
            <a:endParaRPr lang="en-US" sz="3200" dirty="0"/>
          </a:p>
        </p:txBody>
      </p:sp>
      <p:sp>
        <p:nvSpPr>
          <p:cNvPr id="3" name="Shape 1"/>
          <p:cNvSpPr/>
          <p:nvPr/>
        </p:nvSpPr>
        <p:spPr>
          <a:xfrm>
            <a:off x="457200" y="1463040"/>
            <a:ext cx="5486400" cy="2057400"/>
          </a:xfrm>
          <a:prstGeom prst="roundRect">
            <a:avLst>
              <a:gd name="adj" fmla="val 4444"/>
            </a:avLst>
          </a:prstGeom>
          <a:solidFill>
            <a:srgbClr val="F2F5F6"/>
          </a:solidFill>
          <a:ln w="12700">
            <a:solidFill>
              <a:srgbClr val="F2F5F6"/>
            </a:solidFill>
            <a:prstDash val="solid"/>
          </a:ln>
        </p:spPr>
      </p:sp>
      <p:sp>
        <p:nvSpPr>
          <p:cNvPr id="4" name="Shape 2"/>
          <p:cNvSpPr/>
          <p:nvPr/>
        </p:nvSpPr>
        <p:spPr>
          <a:xfrm>
            <a:off x="777240" y="1828800"/>
            <a:ext cx="685800" cy="685800"/>
          </a:xfrm>
          <a:prstGeom prst="ellipse">
            <a:avLst/>
          </a:prstGeom>
          <a:solidFill>
            <a:srgbClr val="0E7C7B"/>
          </a:solidFill>
          <a:ln w="12700">
            <a:solidFill>
              <a:srgbClr val="0E7C7B"/>
            </a:solidFill>
            <a:prstDash val="solid"/>
          </a:ln>
        </p:spPr>
      </p:sp>
      <p:sp>
        <p:nvSpPr>
          <p:cNvPr id="5" name="Text 3"/>
          <p:cNvSpPr txBox="1"/>
          <p:nvPr/>
        </p:nvSpPr>
        <p:spPr>
          <a:xfrm>
            <a:off x="77724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4"/>
          <p:cNvSpPr txBox="1"/>
          <p:nvPr/>
        </p:nvSpPr>
        <p:spPr>
          <a:xfrm>
            <a:off x="1691640" y="1783080"/>
            <a:ext cx="4114800" cy="731520"/>
          </a:xfrm>
          <a:prstGeom prst="rect">
            <a:avLst/>
          </a:prstGeom>
          <a:noFill/>
          <a:ln/>
        </p:spPr>
        <p:txBody>
          <a:bodyPr wrap="square" lIns="0" tIns="0" rIns="0" bIns="0" rtlCol="0" anchor="ctr"/>
          <a:lstStyle/>
          <a:p>
            <a:pPr indent="0" marL="0">
              <a:buNone/>
            </a:pPr>
            <a:r>
              <a:rPr lang="en-US" sz="2400" b="1" dirty="0">
                <a:solidFill>
                  <a:srgbClr val="1F2933"/>
                </a:solidFill>
                <a:latin typeface="Calibri" pitchFamily="34" charset="0"/>
                <a:ea typeface="Calibri" pitchFamily="34" charset="-122"/>
                <a:cs typeface="Calibri" pitchFamily="34" charset="-120"/>
              </a:rPr>
              <a:t>What runs?</a:t>
            </a:r>
            <a:endParaRPr lang="en-US" sz="2400" dirty="0"/>
          </a:p>
        </p:txBody>
      </p:sp>
      <p:sp>
        <p:nvSpPr>
          <p:cNvPr id="7" name="Text 5"/>
          <p:cNvSpPr txBox="1"/>
          <p:nvPr/>
        </p:nvSpPr>
        <p:spPr>
          <a:xfrm>
            <a:off x="1691640" y="2514600"/>
            <a:ext cx="4114800" cy="73152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Demo it if you can</a:t>
            </a:r>
            <a:endParaRPr lang="en-US" sz="1600" dirty="0"/>
          </a:p>
        </p:txBody>
      </p:sp>
      <p:sp>
        <p:nvSpPr>
          <p:cNvPr id="8" name="Shape 6"/>
          <p:cNvSpPr/>
          <p:nvPr/>
        </p:nvSpPr>
        <p:spPr>
          <a:xfrm>
            <a:off x="6172200" y="1463040"/>
            <a:ext cx="5486400" cy="2057400"/>
          </a:xfrm>
          <a:prstGeom prst="roundRect">
            <a:avLst>
              <a:gd name="adj" fmla="val 4444"/>
            </a:avLst>
          </a:prstGeom>
          <a:solidFill>
            <a:srgbClr val="F2F5F6"/>
          </a:solidFill>
          <a:ln w="12700">
            <a:solidFill>
              <a:srgbClr val="F2F5F6"/>
            </a:solidFill>
            <a:prstDash val="solid"/>
          </a:ln>
        </p:spPr>
      </p:sp>
      <p:sp>
        <p:nvSpPr>
          <p:cNvPr id="9" name="Shape 7"/>
          <p:cNvSpPr/>
          <p:nvPr/>
        </p:nvSpPr>
        <p:spPr>
          <a:xfrm>
            <a:off x="6492240" y="1828800"/>
            <a:ext cx="685800" cy="685800"/>
          </a:xfrm>
          <a:prstGeom prst="ellipse">
            <a:avLst/>
          </a:prstGeom>
          <a:solidFill>
            <a:srgbClr val="C9821F"/>
          </a:solidFill>
          <a:ln w="12700">
            <a:solidFill>
              <a:srgbClr val="C9821F"/>
            </a:solidFill>
            <a:prstDash val="solid"/>
          </a:ln>
        </p:spPr>
      </p:sp>
      <p:sp>
        <p:nvSpPr>
          <p:cNvPr id="10" name="Text 8"/>
          <p:cNvSpPr txBox="1"/>
          <p:nvPr/>
        </p:nvSpPr>
        <p:spPr>
          <a:xfrm>
            <a:off x="6492240" y="182880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1" name="Text 9"/>
          <p:cNvSpPr txBox="1"/>
          <p:nvPr/>
        </p:nvSpPr>
        <p:spPr>
          <a:xfrm>
            <a:off x="7406640" y="1783080"/>
            <a:ext cx="4114800" cy="731520"/>
          </a:xfrm>
          <a:prstGeom prst="rect">
            <a:avLst/>
          </a:prstGeom>
          <a:noFill/>
          <a:ln/>
        </p:spPr>
        <p:txBody>
          <a:bodyPr wrap="square" lIns="0" tIns="0" rIns="0" bIns="0" rtlCol="0" anchor="ctr"/>
          <a:lstStyle/>
          <a:p>
            <a:pPr indent="0" marL="0">
              <a:buNone/>
            </a:pPr>
            <a:r>
              <a:rPr lang="en-US" sz="2400" b="1" dirty="0">
                <a:solidFill>
                  <a:srgbClr val="1F2933"/>
                </a:solidFill>
                <a:latin typeface="Calibri" pitchFamily="34" charset="0"/>
                <a:ea typeface="Calibri" pitchFamily="34" charset="-122"/>
                <a:cs typeface="Calibri" pitchFamily="34" charset="-120"/>
              </a:rPr>
              <a:t>What gaps did you hit?</a:t>
            </a:r>
            <a:endParaRPr lang="en-US" sz="2400" dirty="0"/>
          </a:p>
        </p:txBody>
      </p:sp>
      <p:sp>
        <p:nvSpPr>
          <p:cNvPr id="12" name="Text 10"/>
          <p:cNvSpPr txBox="1"/>
          <p:nvPr/>
        </p:nvSpPr>
        <p:spPr>
          <a:xfrm>
            <a:off x="7406640" y="2514600"/>
            <a:ext cx="4114800" cy="73152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Each one filed as an api-gap issue before you leave</a:t>
            </a:r>
            <a:endParaRPr lang="en-US" sz="1600" dirty="0"/>
          </a:p>
        </p:txBody>
      </p:sp>
      <p:sp>
        <p:nvSpPr>
          <p:cNvPr id="13" name="Shape 11"/>
          <p:cNvSpPr/>
          <p:nvPr/>
        </p:nvSpPr>
        <p:spPr>
          <a:xfrm>
            <a:off x="457200" y="3794760"/>
            <a:ext cx="5486400" cy="2057400"/>
          </a:xfrm>
          <a:prstGeom prst="roundRect">
            <a:avLst>
              <a:gd name="adj" fmla="val 4444"/>
            </a:avLst>
          </a:prstGeom>
          <a:solidFill>
            <a:srgbClr val="F2F5F6"/>
          </a:solidFill>
          <a:ln w="12700">
            <a:solidFill>
              <a:srgbClr val="F2F5F6"/>
            </a:solidFill>
            <a:prstDash val="solid"/>
          </a:ln>
        </p:spPr>
      </p:sp>
      <p:sp>
        <p:nvSpPr>
          <p:cNvPr id="14" name="Shape 12"/>
          <p:cNvSpPr/>
          <p:nvPr/>
        </p:nvSpPr>
        <p:spPr>
          <a:xfrm>
            <a:off x="777240" y="4160520"/>
            <a:ext cx="685800" cy="685800"/>
          </a:xfrm>
          <a:prstGeom prst="ellipse">
            <a:avLst/>
          </a:prstGeom>
          <a:solidFill>
            <a:srgbClr val="0E7C7B"/>
          </a:solidFill>
          <a:ln w="12700">
            <a:solidFill>
              <a:srgbClr val="0E7C7B"/>
            </a:solidFill>
            <a:prstDash val="solid"/>
          </a:ln>
        </p:spPr>
      </p:sp>
      <p:sp>
        <p:nvSpPr>
          <p:cNvPr id="15" name="Text 13"/>
          <p:cNvSpPr txBox="1"/>
          <p:nvPr/>
        </p:nvSpPr>
        <p:spPr>
          <a:xfrm>
            <a:off x="777240" y="41605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6" name="Text 14"/>
          <p:cNvSpPr txBox="1"/>
          <p:nvPr/>
        </p:nvSpPr>
        <p:spPr>
          <a:xfrm>
            <a:off x="1691640" y="4114800"/>
            <a:ext cx="4114800" cy="731520"/>
          </a:xfrm>
          <a:prstGeom prst="rect">
            <a:avLst/>
          </a:prstGeom>
          <a:noFill/>
          <a:ln/>
        </p:spPr>
        <p:txBody>
          <a:bodyPr wrap="square" lIns="0" tIns="0" rIns="0" bIns="0" rtlCol="0" anchor="ctr"/>
          <a:lstStyle/>
          <a:p>
            <a:pPr indent="0" marL="0">
              <a:buNone/>
            </a:pPr>
            <a:r>
              <a:rPr lang="en-US" sz="2400" b="1" dirty="0">
                <a:solidFill>
                  <a:srgbClr val="1F2933"/>
                </a:solidFill>
                <a:latin typeface="Calibri" pitchFamily="34" charset="0"/>
                <a:ea typeface="Calibri" pitchFamily="34" charset="-122"/>
                <a:cs typeface="Calibri" pitchFamily="34" charset="-120"/>
              </a:rPr>
              <a:t>Next concrete step?</a:t>
            </a:r>
            <a:endParaRPr lang="en-US" sz="2400" dirty="0"/>
          </a:p>
        </p:txBody>
      </p:sp>
      <p:sp>
        <p:nvSpPr>
          <p:cNvPr id="17" name="Text 15"/>
          <p:cNvSpPr txBox="1"/>
          <p:nvPr/>
        </p:nvSpPr>
        <p:spPr>
          <a:xfrm>
            <a:off x="1691640" y="4846320"/>
            <a:ext cx="4114800" cy="73152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Small enough to finish in a week or two</a:t>
            </a:r>
            <a:endParaRPr lang="en-US" sz="1600" dirty="0"/>
          </a:p>
        </p:txBody>
      </p:sp>
      <p:sp>
        <p:nvSpPr>
          <p:cNvPr id="18" name="Shape 16"/>
          <p:cNvSpPr/>
          <p:nvPr/>
        </p:nvSpPr>
        <p:spPr>
          <a:xfrm>
            <a:off x="6172200" y="3794760"/>
            <a:ext cx="5486400" cy="2057400"/>
          </a:xfrm>
          <a:prstGeom prst="roundRect">
            <a:avLst>
              <a:gd name="adj" fmla="val 4444"/>
            </a:avLst>
          </a:prstGeom>
          <a:solidFill>
            <a:srgbClr val="F2F5F6"/>
          </a:solidFill>
          <a:ln w="12700">
            <a:solidFill>
              <a:srgbClr val="F2F5F6"/>
            </a:solidFill>
            <a:prstDash val="solid"/>
          </a:ln>
        </p:spPr>
      </p:sp>
      <p:sp>
        <p:nvSpPr>
          <p:cNvPr id="19" name="Shape 17"/>
          <p:cNvSpPr/>
          <p:nvPr/>
        </p:nvSpPr>
        <p:spPr>
          <a:xfrm>
            <a:off x="6492240" y="4160520"/>
            <a:ext cx="685800" cy="685800"/>
          </a:xfrm>
          <a:prstGeom prst="ellipse">
            <a:avLst/>
          </a:prstGeom>
          <a:solidFill>
            <a:srgbClr val="0E7C7B"/>
          </a:solidFill>
          <a:ln w="12700">
            <a:solidFill>
              <a:srgbClr val="0E7C7B"/>
            </a:solidFill>
            <a:prstDash val="solid"/>
          </a:ln>
        </p:spPr>
      </p:sp>
      <p:sp>
        <p:nvSpPr>
          <p:cNvPr id="20" name="Text 18"/>
          <p:cNvSpPr txBox="1"/>
          <p:nvPr/>
        </p:nvSpPr>
        <p:spPr>
          <a:xfrm>
            <a:off x="6492240" y="41605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1" name="Text 19"/>
          <p:cNvSpPr txBox="1"/>
          <p:nvPr/>
        </p:nvSpPr>
        <p:spPr>
          <a:xfrm>
            <a:off x="7406640" y="4114800"/>
            <a:ext cx="4114800" cy="731520"/>
          </a:xfrm>
          <a:prstGeom prst="rect">
            <a:avLst/>
          </a:prstGeom>
          <a:noFill/>
          <a:ln/>
        </p:spPr>
        <p:txBody>
          <a:bodyPr wrap="square" lIns="0" tIns="0" rIns="0" bIns="0" rtlCol="0" anchor="ctr"/>
          <a:lstStyle/>
          <a:p>
            <a:pPr indent="0" marL="0">
              <a:buNone/>
            </a:pPr>
            <a:r>
              <a:rPr lang="en-US" sz="2400" b="1" dirty="0">
                <a:solidFill>
                  <a:srgbClr val="1F2933"/>
                </a:solidFill>
                <a:latin typeface="Calibri" pitchFamily="34" charset="0"/>
                <a:ea typeface="Calibri" pitchFamily="34" charset="-122"/>
                <a:cs typeface="Calibri" pitchFamily="34" charset="-120"/>
              </a:rPr>
              <a:t>Who owns it?</a:t>
            </a:r>
            <a:endParaRPr lang="en-US" sz="2400" dirty="0"/>
          </a:p>
        </p:txBody>
      </p:sp>
      <p:sp>
        <p:nvSpPr>
          <p:cNvPr id="22" name="Text 20"/>
          <p:cNvSpPr txBox="1"/>
          <p:nvPr/>
        </p:nvSpPr>
        <p:spPr>
          <a:xfrm>
            <a:off x="7406640" y="4846320"/>
            <a:ext cx="4114800" cy="731520"/>
          </a:xfrm>
          <a:prstGeom prst="rect">
            <a:avLst/>
          </a:prstGeom>
          <a:noFill/>
          <a:ln/>
        </p:spPr>
        <p:txBody>
          <a:bodyPr wrap="square" lIns="0" tIns="0" rIns="0" bIns="0" rtlCol="0" anchor="t"/>
          <a:lstStyle/>
          <a:p>
            <a:pPr indent="0" marL="0">
              <a:buNone/>
            </a:pPr>
            <a:r>
              <a:rPr lang="en-US" sz="1600" dirty="0">
                <a:solidFill>
                  <a:srgbClr val="5B6770"/>
                </a:solidFill>
                <a:latin typeface="Calibri" pitchFamily="34" charset="0"/>
                <a:ea typeface="Calibri" pitchFamily="34" charset="-122"/>
                <a:cs typeface="Calibri" pitchFamily="34" charset="-120"/>
              </a:rPr>
              <a:t>A name, not a team</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7295" cy="685800"/>
          </a:xfrm>
          <a:prstGeom prst="rect">
            <a:avLst/>
          </a:prstGeom>
          <a:noFill/>
          <a:ln/>
        </p:spPr>
        <p:txBody>
          <a:bodyPr wrap="square" lIns="0" tIns="0" rIns="0" bIns="0" rtlCol="0" anchor="ctr"/>
          <a:lstStyle/>
          <a:p>
            <a:pPr indent="0" marL="0">
              <a:buNone/>
            </a:pPr>
            <a:r>
              <a:rPr lang="en-US" sz="3200" b="1" dirty="0">
                <a:solidFill>
                  <a:srgbClr val="1F2933"/>
                </a:solidFill>
                <a:latin typeface="Cambria" pitchFamily="34" charset="0"/>
                <a:ea typeface="Cambria" pitchFamily="34" charset="-122"/>
                <a:cs typeface="Cambria" pitchFamily="34" charset="-120"/>
              </a:rPr>
              <a:t>Five workstreams. Each needs a champion.</a:t>
            </a:r>
            <a:endParaRPr lang="en-US" sz="3200" dirty="0"/>
          </a:p>
        </p:txBody>
      </p:sp>
      <p:sp>
        <p:nvSpPr>
          <p:cNvPr id="3" name="Text 1"/>
          <p:cNvSpPr txBox="1"/>
          <p:nvPr/>
        </p:nvSpPr>
        <p:spPr>
          <a:xfrm>
            <a:off x="457200" y="1005840"/>
            <a:ext cx="11277295" cy="411480"/>
          </a:xfrm>
          <a:prstGeom prst="rect">
            <a:avLst/>
          </a:prstGeom>
          <a:noFill/>
          <a:ln/>
        </p:spPr>
        <p:txBody>
          <a:bodyPr wrap="square" lIns="0" tIns="0" rIns="0" bIns="0" rtlCol="0" anchor="ctr"/>
          <a:lstStyle/>
          <a:p>
            <a:pPr indent="0" marL="0">
              <a:buNone/>
            </a:pPr>
            <a:r>
              <a:rPr lang="en-US" sz="1500" dirty="0">
                <a:solidFill>
                  <a:srgbClr val="5B6770"/>
                </a:solidFill>
                <a:latin typeface="Calibri" pitchFamily="34" charset="0"/>
                <a:ea typeface="Calibri" pitchFamily="34" charset="-122"/>
                <a:cs typeface="Calibri" pitchFamily="34" charset="-120"/>
              </a:rPr>
              <a:t>A champion owns the scope through M3: keeps issues moving, makes calls, reports at the biweekly sync. Not the whole workload.</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743200"/>
                <a:gridCol w="6245352"/>
                <a:gridCol w="2286000"/>
              </a:tblGrid>
              <a:tr h="65836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Workstream</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Scope</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Champion</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17303A"/>
                    </a:solidFill>
                  </a:tcPr>
                </a:tc>
              </a:tr>
              <a:tr h="658368">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1. Science</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Data generator, planted signal, model, evaluation, DP</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b="1" dirty="0">
                          <a:solidFill>
                            <a:srgbClr val="C9821F"/>
                          </a:solidFill>
                          <a:latin typeface="Calibri" pitchFamily="34" charset="0"/>
                          <a:ea typeface="Calibri" pitchFamily="34" charset="-122"/>
                          <a:cs typeface="Calibri" pitchFamily="34" charset="-120"/>
                        </a:rPr>
                        <a:t>Needed</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r h="658368">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2. Node-in-a-box</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Compose stack, site config, deploy docs, onboarding runbook</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500" b="1" dirty="0">
                          <a:solidFill>
                            <a:srgbClr val="C9821F"/>
                          </a:solidFill>
                          <a:latin typeface="Calibri" pitchFamily="34" charset="0"/>
                          <a:ea typeface="Calibri" pitchFamily="34" charset="-122"/>
                          <a:cs typeface="Calibri" pitchFamily="34" charset="-120"/>
                        </a:rPr>
                        <a:t>Needed</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3. Coordinator</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FedAvg loop, WES/TES + DRS clients, round bookkeeping, dropout</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b="1" dirty="0">
                          <a:solidFill>
                            <a:srgbClr val="0A5857"/>
                          </a:solidFill>
                          <a:latin typeface="Calibri" pitchFamily="34" charset="0"/>
                          <a:ea typeface="Calibri" pitchFamily="34" charset="-122"/>
                          <a:cs typeface="Calibri" pitchFamily="34" charset="-120"/>
                        </a:rPr>
                        <a:t>Venkat (proposed)</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r h="658368">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4. Auth</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Static tokens for M3; Passports and M2M delegation after</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c>
                  <a:txBody>
                    <a:bodyPr/>
                    <a:lstStyle/>
                    <a:p>
                      <a:pPr indent="0" marL="0">
                        <a:buNone/>
                      </a:pPr>
                      <a:r>
                        <a:rPr lang="en-US" sz="1500" b="1" dirty="0">
                          <a:solidFill>
                            <a:srgbClr val="C9821F"/>
                          </a:solidFill>
                          <a:latin typeface="Calibri" pitchFamily="34" charset="0"/>
                          <a:ea typeface="Calibri" pitchFamily="34" charset="-122"/>
                          <a:cs typeface="Calibri" pitchFamily="34" charset="-120"/>
                        </a:rPr>
                        <a:t>Needed (from M3)</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FFFFF"/>
                    </a:solidFill>
                  </a:tcPr>
                </a:tc>
              </a:tr>
              <a:tr h="658368">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5. Sites and reporting</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Driver onboarding, site matrix, gap triage, blog, final report</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c>
                  <a:txBody>
                    <a:bodyPr/>
                    <a:lstStyle/>
                    <a:p>
                      <a:pPr indent="0" marL="0">
                        <a:buNone/>
                      </a:pPr>
                      <a:r>
                        <a:rPr lang="en-US" sz="1500" b="1" dirty="0">
                          <a:solidFill>
                            <a:srgbClr val="0A5857"/>
                          </a:solidFill>
                          <a:latin typeface="Calibri" pitchFamily="34" charset="0"/>
                          <a:ea typeface="Calibri" pitchFamily="34" charset="-122"/>
                          <a:cs typeface="Calibri" pitchFamily="34" charset="-120"/>
                        </a:rPr>
                        <a:t>Brian</a:t>
                      </a:r>
                      <a:endParaRPr lang="en-US" sz="1500" dirty="0">
                        <a:latin typeface="Calibri" charset="0"/>
                        <a:ea typeface="Calibri" charset="0"/>
                        <a:cs typeface="Calibri" charset="0"/>
                      </a:endParaRPr>
                    </a:p>
                  </a:txBody>
                  <a:tcPr marL="137160" marR="137160" marT="36576" marB="36576" anchor="ctr">
                    <a:lnL w="9525" cap="flat" cmpd="sng" algn="ctr">
                      <a:solidFill>
                        <a:srgbClr val="D5DDE1"/>
                      </a:solidFill>
                      <a:prstDash val="solid"/>
                      <a:round/>
                      <a:headEnd type="none" w="med" len="med"/>
                      <a:tailEnd type="none" w="med" len="med"/>
                    </a:lnL>
                    <a:lnR w="9525" cap="flat" cmpd="sng" algn="ctr">
                      <a:solidFill>
                        <a:srgbClr val="D5DDE1"/>
                      </a:solidFill>
                      <a:prstDash val="solid"/>
                      <a:round/>
                      <a:headEnd type="none" w="med" len="med"/>
                      <a:tailEnd type="none" w="med" len="med"/>
                    </a:lnR>
                    <a:lnT w="9525" cap="flat" cmpd="sng" algn="ctr">
                      <a:solidFill>
                        <a:srgbClr val="D5DDE1"/>
                      </a:solidFill>
                      <a:prstDash val="solid"/>
                      <a:round/>
                      <a:headEnd type="none" w="med" len="med"/>
                      <a:tailEnd type="none" w="med" len="med"/>
                    </a:lnT>
                    <a:lnB w="9525" cap="flat" cmpd="sng" algn="ctr">
                      <a:solidFill>
                        <a:srgbClr val="D5DDE1"/>
                      </a:solidFill>
                      <a:prstDash val="solid"/>
                      <a:round/>
                      <a:headEnd type="none" w="med" len="med"/>
                      <a:tailEnd type="none" w="med" len="med"/>
                    </a:lnB>
                    <a:solidFill>
                      <a:srgbClr val="F2F5F6"/>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303A"/>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Next steps</a:t>
            </a:r>
            <a:endParaRPr lang="en-US" sz="4000" dirty="0"/>
          </a:p>
        </p:txBody>
      </p:sp>
      <p:sp>
        <p:nvSpPr>
          <p:cNvPr id="3" name="Shape 1"/>
          <p:cNvSpPr/>
          <p:nvPr/>
        </p:nvSpPr>
        <p:spPr>
          <a:xfrm>
            <a:off x="731520" y="1938528"/>
            <a:ext cx="365760" cy="365760"/>
          </a:xfrm>
          <a:prstGeom prst="ellipse">
            <a:avLst/>
          </a:prstGeom>
          <a:solidFill>
            <a:srgbClr val="0E7C7B"/>
          </a:solidFill>
          <a:ln w="12700">
            <a:solidFill>
              <a:srgbClr val="0E7C7B"/>
            </a:solidFill>
            <a:prstDash val="solid"/>
          </a:ln>
        </p:spPr>
      </p:sp>
      <p:sp>
        <p:nvSpPr>
          <p:cNvPr id="4" name="Text 2"/>
          <p:cNvSpPr txBox="1"/>
          <p:nvPr/>
        </p:nvSpPr>
        <p:spPr>
          <a:xfrm>
            <a:off x="731520" y="1938528"/>
            <a:ext cx="365760" cy="365760"/>
          </a:xfrm>
          <a:prstGeom prst="rect">
            <a:avLst/>
          </a:prstGeom>
          <a:noFill/>
          <a:ln/>
        </p:spPr>
        <p:txBody>
          <a:bodyPr wrap="square" lIns="0" tIns="0" rIns="0" bIns="0" rtlCol="0" anchor="ctr"/>
          <a:lstStyle/>
          <a:p>
            <a:pPr algn="ctr" indent="0" marL="0">
              <a:buNone/>
            </a:pPr>
            <a:endParaRPr lang="en-US" sz="1600" dirty="0"/>
          </a:p>
        </p:txBody>
      </p:sp>
      <p:sp>
        <p:nvSpPr>
          <p:cNvPr id="5" name="Text 3"/>
          <p:cNvSpPr txBox="1"/>
          <p:nvPr/>
        </p:nvSpPr>
        <p:spPr>
          <a:xfrm>
            <a:off x="1325880" y="1828800"/>
            <a:ext cx="1828800" cy="594360"/>
          </a:xfrm>
          <a:prstGeom prst="rect">
            <a:avLst/>
          </a:prstGeom>
          <a:noFill/>
          <a:ln/>
        </p:spPr>
        <p:txBody>
          <a:bodyPr wrap="square" lIns="0" tIns="0" rIns="0" bIns="0" rtlCol="0" anchor="ctr"/>
          <a:lstStyle/>
          <a:p>
            <a:pPr indent="0" marL="0">
              <a:buNone/>
            </a:pPr>
            <a:r>
              <a:rPr lang="en-US" sz="2000" b="1" dirty="0">
                <a:solidFill>
                  <a:srgbClr val="7FC8C6"/>
                </a:solidFill>
                <a:latin typeface="Calibri" pitchFamily="34" charset="0"/>
                <a:ea typeface="Calibri" pitchFamily="34" charset="-122"/>
                <a:cs typeface="Calibri" pitchFamily="34" charset="-120"/>
              </a:rPr>
              <a:t>Oct 9</a:t>
            </a:r>
            <a:endParaRPr lang="en-US" sz="2000" dirty="0"/>
          </a:p>
        </p:txBody>
      </p:sp>
      <p:sp>
        <p:nvSpPr>
          <p:cNvPr id="6" name="Text 4"/>
          <p:cNvSpPr txBox="1"/>
          <p:nvPr/>
        </p:nvSpPr>
        <p:spPr>
          <a:xfrm>
            <a:off x="3200400" y="1828800"/>
            <a:ext cx="8229600" cy="59436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M0: open decisions closed, champions confirmed</a:t>
            </a:r>
            <a:endParaRPr lang="en-US" sz="2000" dirty="0"/>
          </a:p>
        </p:txBody>
      </p:sp>
      <p:sp>
        <p:nvSpPr>
          <p:cNvPr id="7" name="Shape 5"/>
          <p:cNvSpPr/>
          <p:nvPr/>
        </p:nvSpPr>
        <p:spPr>
          <a:xfrm>
            <a:off x="731520" y="2807208"/>
            <a:ext cx="365760" cy="365760"/>
          </a:xfrm>
          <a:prstGeom prst="ellipse">
            <a:avLst/>
          </a:prstGeom>
          <a:solidFill>
            <a:srgbClr val="0E7C7B"/>
          </a:solidFill>
          <a:ln w="12700">
            <a:solidFill>
              <a:srgbClr val="0E7C7B"/>
            </a:solidFill>
            <a:prstDash val="solid"/>
          </a:ln>
        </p:spPr>
      </p:sp>
      <p:sp>
        <p:nvSpPr>
          <p:cNvPr id="8" name="Text 6"/>
          <p:cNvSpPr txBox="1"/>
          <p:nvPr/>
        </p:nvSpPr>
        <p:spPr>
          <a:xfrm>
            <a:off x="731520" y="2807208"/>
            <a:ext cx="365760" cy="365760"/>
          </a:xfrm>
          <a:prstGeom prst="rect">
            <a:avLst/>
          </a:prstGeom>
          <a:noFill/>
          <a:ln/>
        </p:spPr>
        <p:txBody>
          <a:bodyPr wrap="square" lIns="0" tIns="0" rIns="0" bIns="0" rtlCol="0" anchor="ctr"/>
          <a:lstStyle/>
          <a:p>
            <a:pPr algn="ctr" indent="0" marL="0">
              <a:buNone/>
            </a:pPr>
            <a:endParaRPr lang="en-US" sz="1600" dirty="0"/>
          </a:p>
        </p:txBody>
      </p:sp>
      <p:sp>
        <p:nvSpPr>
          <p:cNvPr id="9" name="Text 7"/>
          <p:cNvSpPr txBox="1"/>
          <p:nvPr/>
        </p:nvSpPr>
        <p:spPr>
          <a:xfrm>
            <a:off x="1325880" y="2697480"/>
            <a:ext cx="1828800" cy="594360"/>
          </a:xfrm>
          <a:prstGeom prst="rect">
            <a:avLst/>
          </a:prstGeom>
          <a:noFill/>
          <a:ln/>
        </p:spPr>
        <p:txBody>
          <a:bodyPr wrap="square" lIns="0" tIns="0" rIns="0" bIns="0" rtlCol="0" anchor="ctr"/>
          <a:lstStyle/>
          <a:p>
            <a:pPr indent="0" marL="0">
              <a:buNone/>
            </a:pPr>
            <a:r>
              <a:rPr lang="en-US" sz="2000" b="1" dirty="0">
                <a:solidFill>
                  <a:srgbClr val="7FC8C6"/>
                </a:solidFill>
                <a:latin typeface="Calibri" pitchFamily="34" charset="0"/>
                <a:ea typeface="Calibri" pitchFamily="34" charset="-122"/>
                <a:cs typeface="Calibri" pitchFamily="34" charset="-120"/>
              </a:rPr>
              <a:t>Biweekly</a:t>
            </a:r>
            <a:endParaRPr lang="en-US" sz="2000" dirty="0"/>
          </a:p>
        </p:txBody>
      </p:sp>
      <p:sp>
        <p:nvSpPr>
          <p:cNvPr id="10" name="Text 8"/>
          <p:cNvSpPr txBox="1"/>
          <p:nvPr/>
        </p:nvSpPr>
        <p:spPr>
          <a:xfrm>
            <a:off x="3200400" y="2697480"/>
            <a:ext cx="8229600" cy="59436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30-min sync, opens with a demo of whatever runs</a:t>
            </a:r>
            <a:endParaRPr lang="en-US" sz="2000" dirty="0"/>
          </a:p>
        </p:txBody>
      </p:sp>
      <p:sp>
        <p:nvSpPr>
          <p:cNvPr id="11" name="Shape 9"/>
          <p:cNvSpPr/>
          <p:nvPr/>
        </p:nvSpPr>
        <p:spPr>
          <a:xfrm>
            <a:off x="731520" y="3675888"/>
            <a:ext cx="365760" cy="365760"/>
          </a:xfrm>
          <a:prstGeom prst="ellipse">
            <a:avLst/>
          </a:prstGeom>
          <a:solidFill>
            <a:srgbClr val="0E7C7B"/>
          </a:solidFill>
          <a:ln w="12700">
            <a:solidFill>
              <a:srgbClr val="0E7C7B"/>
            </a:solidFill>
            <a:prstDash val="solid"/>
          </a:ln>
        </p:spPr>
      </p:sp>
      <p:sp>
        <p:nvSpPr>
          <p:cNvPr id="12" name="Text 10"/>
          <p:cNvSpPr txBox="1"/>
          <p:nvPr/>
        </p:nvSpPr>
        <p:spPr>
          <a:xfrm>
            <a:off x="731520" y="3675888"/>
            <a:ext cx="365760" cy="365760"/>
          </a:xfrm>
          <a:prstGeom prst="rect">
            <a:avLst/>
          </a:prstGeom>
          <a:noFill/>
          <a:ln/>
        </p:spPr>
        <p:txBody>
          <a:bodyPr wrap="square" lIns="0" tIns="0" rIns="0" bIns="0" rtlCol="0" anchor="ctr"/>
          <a:lstStyle/>
          <a:p>
            <a:pPr algn="ctr" indent="0" marL="0">
              <a:buNone/>
            </a:pPr>
            <a:endParaRPr lang="en-US" sz="1600" dirty="0"/>
          </a:p>
        </p:txBody>
      </p:sp>
      <p:sp>
        <p:nvSpPr>
          <p:cNvPr id="13" name="Text 11"/>
          <p:cNvSpPr txBox="1"/>
          <p:nvPr/>
        </p:nvSpPr>
        <p:spPr>
          <a:xfrm>
            <a:off x="1325880" y="3566160"/>
            <a:ext cx="1828800" cy="594360"/>
          </a:xfrm>
          <a:prstGeom prst="rect">
            <a:avLst/>
          </a:prstGeom>
          <a:noFill/>
          <a:ln/>
        </p:spPr>
        <p:txBody>
          <a:bodyPr wrap="square" lIns="0" tIns="0" rIns="0" bIns="0" rtlCol="0" anchor="ctr"/>
          <a:lstStyle/>
          <a:p>
            <a:pPr indent="0" marL="0">
              <a:buNone/>
            </a:pPr>
            <a:r>
              <a:rPr lang="en-US" sz="2000" b="1" dirty="0">
                <a:solidFill>
                  <a:srgbClr val="7FC8C6"/>
                </a:solidFill>
                <a:latin typeface="Calibri" pitchFamily="34" charset="0"/>
                <a:ea typeface="Calibri" pitchFamily="34" charset="-122"/>
                <a:cs typeface="Calibri" pitchFamily="34" charset="-120"/>
              </a:rPr>
              <a:t>Oct 30</a:t>
            </a:r>
            <a:endParaRPr lang="en-US" sz="2000" dirty="0"/>
          </a:p>
        </p:txBody>
      </p:sp>
      <p:sp>
        <p:nvSpPr>
          <p:cNvPr id="14" name="Text 12"/>
          <p:cNvSpPr txBox="1"/>
          <p:nvPr/>
        </p:nvSpPr>
        <p:spPr>
          <a:xfrm>
            <a:off x="3200400" y="3566160"/>
            <a:ext cx="8229600" cy="59436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M1: federated beats local-only in simulation</a:t>
            </a:r>
            <a:endParaRPr lang="en-US" sz="2000" dirty="0"/>
          </a:p>
        </p:txBody>
      </p:sp>
      <p:sp>
        <p:nvSpPr>
          <p:cNvPr id="15" name="Shape 13"/>
          <p:cNvSpPr/>
          <p:nvPr/>
        </p:nvSpPr>
        <p:spPr>
          <a:xfrm>
            <a:off x="731520" y="4544568"/>
            <a:ext cx="365760" cy="365760"/>
          </a:xfrm>
          <a:prstGeom prst="ellipse">
            <a:avLst/>
          </a:prstGeom>
          <a:solidFill>
            <a:srgbClr val="C9821F"/>
          </a:solidFill>
          <a:ln w="12700">
            <a:solidFill>
              <a:srgbClr val="C9821F"/>
            </a:solidFill>
            <a:prstDash val="solid"/>
          </a:ln>
        </p:spPr>
      </p:sp>
      <p:sp>
        <p:nvSpPr>
          <p:cNvPr id="16" name="Text 14"/>
          <p:cNvSpPr txBox="1"/>
          <p:nvPr/>
        </p:nvSpPr>
        <p:spPr>
          <a:xfrm>
            <a:off x="731520" y="4544568"/>
            <a:ext cx="365760" cy="365760"/>
          </a:xfrm>
          <a:prstGeom prst="rect">
            <a:avLst/>
          </a:prstGeom>
          <a:noFill/>
          <a:ln/>
        </p:spPr>
        <p:txBody>
          <a:bodyPr wrap="square" lIns="0" tIns="0" rIns="0" bIns="0" rtlCol="0" anchor="ctr"/>
          <a:lstStyle/>
          <a:p>
            <a:pPr algn="ctr" indent="0" marL="0">
              <a:buNone/>
            </a:pPr>
            <a:endParaRPr lang="en-US" sz="1600" dirty="0"/>
          </a:p>
        </p:txBody>
      </p:sp>
      <p:sp>
        <p:nvSpPr>
          <p:cNvPr id="17" name="Text 15"/>
          <p:cNvSpPr txBox="1"/>
          <p:nvPr/>
        </p:nvSpPr>
        <p:spPr>
          <a:xfrm>
            <a:off x="1325880" y="4434840"/>
            <a:ext cx="1828800" cy="594360"/>
          </a:xfrm>
          <a:prstGeom prst="rect">
            <a:avLst/>
          </a:prstGeom>
          <a:noFill/>
          <a:ln/>
        </p:spPr>
        <p:txBody>
          <a:bodyPr wrap="square" lIns="0" tIns="0" rIns="0" bIns="0" rtlCol="0" anchor="ctr"/>
          <a:lstStyle/>
          <a:p>
            <a:pPr indent="0" marL="0">
              <a:buNone/>
            </a:pPr>
            <a:r>
              <a:rPr lang="en-US" sz="2000" b="1" dirty="0">
                <a:solidFill>
                  <a:srgbClr val="7FC8C6"/>
                </a:solidFill>
                <a:latin typeface="Calibri" pitchFamily="34" charset="0"/>
                <a:ea typeface="Calibri" pitchFamily="34" charset="-122"/>
                <a:cs typeface="Calibri" pitchFamily="34" charset="-120"/>
              </a:rPr>
              <a:t>Dec 11</a:t>
            </a:r>
            <a:endParaRPr lang="en-US" sz="2000" dirty="0"/>
          </a:p>
        </p:txBody>
      </p:sp>
      <p:sp>
        <p:nvSpPr>
          <p:cNvPr id="18" name="Text 16"/>
          <p:cNvSpPr txBox="1"/>
          <p:nvPr/>
        </p:nvSpPr>
        <p:spPr>
          <a:xfrm>
            <a:off x="3200400" y="4434840"/>
            <a:ext cx="8229600" cy="59436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M3: multi-site run over GA4GH APIs</a:t>
            </a:r>
            <a:endParaRPr lang="en-US" sz="2000" dirty="0"/>
          </a:p>
        </p:txBody>
      </p:sp>
      <p:sp>
        <p:nvSpPr>
          <p:cNvPr id="19" name="Text 17"/>
          <p:cNvSpPr txBox="1"/>
          <p:nvPr/>
        </p:nvSpPr>
        <p:spPr>
          <a:xfrm>
            <a:off x="731520" y="5669280"/>
            <a:ext cx="10515600" cy="457200"/>
          </a:xfrm>
          <a:prstGeom prst="rect">
            <a:avLst/>
          </a:prstGeom>
          <a:noFill/>
          <a:ln/>
        </p:spPr>
        <p:txBody>
          <a:bodyPr wrap="square" lIns="0" tIns="0" rIns="0" bIns="0" rtlCol="0" anchor="ctr"/>
          <a:lstStyle/>
          <a:p>
            <a:pPr indent="0" marL="0">
              <a:buNone/>
            </a:pPr>
            <a:r>
              <a:rPr lang="en-US" sz="1500" dirty="0">
                <a:solidFill>
                  <a:srgbClr val="C3D3DA"/>
                </a:solidFill>
                <a:latin typeface="Calibri" pitchFamily="34" charset="0"/>
                <a:ea typeface="Calibri" pitchFamily="34" charset="-122"/>
                <a:cs typeface="Calibri" pitchFamily="34" charset="-120"/>
              </a:rPr>
              <a:t>github.com/ga4gh/gif-project-federated-learning · README, HACKATHON.md, decisions/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GIF Federated Learning: Experiment 1 hackathon, Oct 2 2026</dc:title>
  <dc:subject>PptxGenJS Presentation</dc:subject>
  <dc:creator>Brian O'Connor, Venkat Malladi</dc:creator>
  <cp:lastModifiedBy>Brian O'Connor, Venkat Malladi</cp:lastModifiedBy>
  <cp:revision>1</cp:revision>
  <dcterms:created xsi:type="dcterms:W3CDTF">2026-09-29T07:22:46Z</dcterms:created>
  <dcterms:modified xsi:type="dcterms:W3CDTF">2026-09-29T07:22:46Z</dcterms:modified>
</cp:coreProperties>
</file>